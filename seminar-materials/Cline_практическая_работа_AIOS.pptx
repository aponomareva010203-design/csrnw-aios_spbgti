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d51514c9-7de1-523e-717d-00b368542e89}">
          <p14:sldIdLst>
            <p14:sldId id="256"/>
            <p14:sldId id="257"/>
            <p14:sldId id="258"/>
            <p14:sldId id="259"/>
            <p14:sldId id="260"/>
          </p14:sldIdLst>
        </p14:section>
        <p14:section name="Инструменты и подготовка" id="{838f2220-7a4c-2462-baf8-1d1b168d351b}">
          <p14:sldIdLst>
            <p14:sldId id="261"/>
            <p14:sldId id="262"/>
            <p14:sldId id="263"/>
          </p14:sldIdLst>
        </p14:section>
        <p14:section name="Формат и групповое задание" id="{bf731a2f-9583-4bd4-7f08-5e722c0f47e9}">
          <p14:sldIdLst>
            <p14:sldId id="264"/>
            <p14:sldId id="265"/>
            <p14:sldId id="266"/>
            <p14:sldId id="267"/>
          </p14:sldIdLst>
        </p14:section>
        <p14:section name="Программа двух дней" id="{5b18b3fd-28b1-f52d-df07-fdbe86ee5c0a}">
          <p14:sldIdLst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Результаты и поддержка" id="{e3d7d6c7-774b-ce0a-0093-2ce23f2dce8d}">
          <p14:sldIdLst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Открывающий слайд. Суть: за два дня каждый проректор собирает свою версию платформы AIOS под задачи своего вуза — промптами, без программирования. Инструмент — Cline в VS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мысль: результат — не «прослушанный курс», а работающая версия платформы на ноутбуке участника, проверенная гипотеза и план, что из этого внедрить в вузе.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Шесть задач идут по порядку программы: сначала инструменты и платформа, затем навык постановки задачи ИИ, затем своя доработка, проверка гипотезы и защита.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Шесть шагов ложатся на четыре такта. День 1 — инструменты и базовые навыки, день 2 — своя задача группы, проверка гипотезы и защита.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Рабочий цикл одинаков для любой задачи. Важно показать участникам кнопку Restore у шагов Cline и привычку сохранять версию после каждого удачного шага.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о технической подготовке. Главный риск сессии — потерять первый такт на установке, поэтому всё, что можно, ставится заранее.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Первые четыре инструмента обязательны для работы с Cline. Git не строго обязателен, но сильно упрощает откат. Ключ LLM для чата платформы может совпадать с ключом Cline, если провайдер один и тот же.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Чек-лист готовности проходит каждый участник в конце настройки. Без всех семи галочек к базовым доработкам не переходим — подключаем дежурного.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о формате: как совмещаются индивидуальная работа и групповое задание.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Сливать копии в одну не обязательно: на защите каждый показывает свою часть со своего ноутбука в общей логике кейса. По желанию группа может собрать общую версию с помощью Cline.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Кейсы опираются на то, что уже есть в платформе: примеры полигонов, базы знаний и стартовые промпты. Группа может принести свой кейс, если сформулирует гипотезу, которую можно проверить на полигоне.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Роли распределяются в конце первого такта. Каждая роль соответствует рецепту в .clinerules и стартовой задаче в памятке, поэтому у каждого есть проверенная точка старта.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Длительность такта ориентировочная, около двух с половиной часов. Внутренние тайминги на следующих слайдах можно сжимать пропорционально.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Каждый такт заканчивается видимым результатом: это даёт ритм и позволяет ведущему понять, кто отстаёт.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Первый такт целиком про то, чтобы всё заработало. Экскурсию удобно вести по маршруту: рабочий стол → данные и знания (3D-онтология, RAG-база) → агенты → модели → полигоны → онбординг проекта в чате.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 втором такте участники набирают уверенность на проверенных задачах. ТЗ группы — главный мост ко второму дню: что именно каждый будет делать под кейс.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Самый свободный такт. Главная опасность — слишком большая задача. Ведущий следит, чтобы участники шли шагами по 10–20 минут и сохраняли версию после каждого шага.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Гипотезу проверяют числом: доля прогонов, где цель достигнута. Фокус-группа даёт качественные аргументы. На защите показывают работающую платформу, а не слайды.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Веса критериев — предложение, их можно настроить. Главный критерий — работающее решение, показанное вживую.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Самые частые риски — техника и сеть. Всё, что можно, проверяется за неделю до сессии на тех же ноутбуках и в той же сети.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Завершение: следующие шаги после сессии для вуза и для сообщества участников.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96012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058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2"/>
                </a:solidFill>
              </a:rPr>
              <a:t>Сессия «Агентный инжиниринг для управления инновациями в вузе» · практическая работа с Cline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Свой AIOS за два дня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Практическая работа участников: доработка платформы проректора по инновациям с ИИ-помощником Cline в VS Code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669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Проект программы · 2 дня × 2 такта · индивидуальная работа в группах</a:t>
            </a:r>
            <a:endParaRPr lang="en-US" sz="1400" dirty="0"/>
          </a:p>
        </p:txBody>
      </p:sp>
      <p:sp>
        <p:nvSpPr>
          <p:cNvPr id="5" name="ИИ-помощник — круг"/>
          <p:cNvSpPr/>
          <p:nvPr/>
        </p:nvSpPr>
        <p:spPr>
          <a:xfrm>
            <a:off x="10241280" y="731520"/>
            <a:ext cx="1188720" cy="11887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ИИ-помощник — значок" descr="ИИ-помощник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26573" y="1016813"/>
            <a:ext cx="618134" cy="6181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Цель практической работы</a:t>
            </a:r>
            <a:endParaRPr lang="en-US" sz="3000" dirty="0"/>
          </a:p>
        </p:txBody>
      </p:sp>
      <p:sp>
        <p:nvSpPr>
          <p:cNvPr id="3" name="Цель — фон"/>
          <p:cNvSpPr/>
          <p:nvPr/>
        </p:nvSpPr>
        <p:spPr>
          <a:xfrm>
            <a:off x="548640" y="1371600"/>
            <a:ext cx="5120640" cy="4480560"/>
          </a:xfrm>
          <a:prstGeom prst="roundRect">
            <a:avLst>
              <a:gd name="adj" fmla="val 244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14305C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14400" y="1737360"/>
            <a:ext cx="43891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Каждый участник превращает базовую платформу AIOS в рабочее пространство проректора своего вуза — без программирования, постановкой задач ИИ-помощнику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84632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3"/>
                </a:solidFill>
              </a:rPr>
              <a:t>и проверяет на полигоне одну управленческую гипотезу своей группы</a:t>
            </a:r>
            <a:endParaRPr lang="en-US" sz="1600" dirty="0"/>
          </a:p>
        </p:txBody>
      </p:sp>
      <p:sp>
        <p:nvSpPr>
          <p:cNvPr id="6" name="Результат 1"/>
          <p:cNvSpPr/>
          <p:nvPr/>
        </p:nvSpPr>
        <p:spPr>
          <a:xfrm>
            <a:off x="6035040" y="1371600"/>
            <a:ext cx="55778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305C">
                <a:alpha val="12000"/>
              </a:srgbClr>
            </a:outerShdw>
          </a:effectLst>
        </p:spPr>
      </p:sp>
      <p:sp>
        <p:nvSpPr>
          <p:cNvPr id="7" name="Своя версия платформы — круг"/>
          <p:cNvSpPr/>
          <p:nvPr/>
        </p:nvSpPr>
        <p:spPr>
          <a:xfrm>
            <a:off x="6263640" y="164592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Своя версия платформы — значок" descr="Своя версия платформы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0178" y="1832458"/>
            <a:ext cx="404165" cy="40416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269480" y="153619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Своя версия платформы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269480" y="192024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Данные своего вуза на дашборде и не меньше трёх доработок: виджет, раздел, агент или поле проекта</a:t>
            </a:r>
            <a:endParaRPr lang="en-US" sz="1400" dirty="0"/>
          </a:p>
        </p:txBody>
      </p:sp>
      <p:sp>
        <p:nvSpPr>
          <p:cNvPr id="11" name="Результат 2"/>
          <p:cNvSpPr/>
          <p:nvPr/>
        </p:nvSpPr>
        <p:spPr>
          <a:xfrm>
            <a:off x="6035040" y="2926080"/>
            <a:ext cx="55778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305C">
                <a:alpha val="12000"/>
              </a:srgbClr>
            </a:outerShdw>
          </a:effectLst>
        </p:spPr>
      </p:sp>
      <p:sp>
        <p:nvSpPr>
          <p:cNvPr id="12" name="Проверенная гипотеза — круг"/>
          <p:cNvSpPr/>
          <p:nvPr/>
        </p:nvSpPr>
        <p:spPr>
          <a:xfrm>
            <a:off x="6263640" y="3200400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Проверенная гипотеза — значок" descr="Проверенная гипотез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0178" y="3386938"/>
            <a:ext cx="404165" cy="40416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269480" y="309067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Проверенная гипотеза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7269480" y="347472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Сценарии на полигоне: в какой доле прогонов управленческое решение даёт нужный результат</a:t>
            </a:r>
            <a:endParaRPr lang="en-US" sz="1400" dirty="0"/>
          </a:p>
        </p:txBody>
      </p:sp>
      <p:sp>
        <p:nvSpPr>
          <p:cNvPr id="16" name="Результат 3"/>
          <p:cNvSpPr/>
          <p:nvPr/>
        </p:nvSpPr>
        <p:spPr>
          <a:xfrm>
            <a:off x="6035040" y="4480560"/>
            <a:ext cx="55778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305C">
                <a:alpha val="12000"/>
              </a:srgbClr>
            </a:outerShdw>
          </a:effectLst>
        </p:spPr>
      </p:sp>
      <p:sp>
        <p:nvSpPr>
          <p:cNvPr id="17" name="План внедрения — круг"/>
          <p:cNvSpPr/>
          <p:nvPr/>
        </p:nvSpPr>
        <p:spPr>
          <a:xfrm>
            <a:off x="6263640" y="4754880"/>
            <a:ext cx="777240" cy="7772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8" name="План внедрения — значок" descr="План внедрения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0178" y="4941418"/>
            <a:ext cx="404165" cy="40416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269480" y="464515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План внедрения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7269480" y="502920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Что забрать в свой вуз, кто будет поддерживать и какие данные подключить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Задачи участника</a:t>
            </a:r>
            <a:endParaRPr lang="en-US" sz="3000" dirty="0"/>
          </a:p>
        </p:txBody>
      </p:sp>
      <p:sp>
        <p:nvSpPr>
          <p:cNvPr id="3" name="Задача 1"/>
          <p:cNvSpPr/>
          <p:nvPr/>
        </p:nvSpPr>
        <p:spPr>
          <a:xfrm>
            <a:off x="548640" y="141732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305C">
                <a:alpha val="12000"/>
              </a:srgbClr>
            </a:outerShdw>
          </a:effectLst>
        </p:spPr>
      </p:sp>
      <p:sp>
        <p:nvSpPr>
          <p:cNvPr id="4" name="Освоить инструменты — круг"/>
          <p:cNvSpPr/>
          <p:nvPr/>
        </p:nvSpPr>
        <p:spPr>
          <a:xfrm>
            <a:off x="822960" y="16916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Освоить инструменты — значок" descr="Освоить инструменты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85623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474720" y="16916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9AA9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68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Освоить инструменты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34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Запустить платформу, настроить VS Code и Cline, сохранить исходную версию</a:t>
            </a:r>
            <a:endParaRPr lang="en-US" sz="1300" dirty="0"/>
          </a:p>
        </p:txBody>
      </p:sp>
      <p:sp>
        <p:nvSpPr>
          <p:cNvPr id="9" name="Задача 2"/>
          <p:cNvSpPr/>
          <p:nvPr/>
        </p:nvSpPr>
        <p:spPr>
          <a:xfrm>
            <a:off x="4297680" y="141732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305C">
                <a:alpha val="12000"/>
              </a:srgbClr>
            </a:outerShdw>
          </a:effectLst>
        </p:spPr>
      </p:sp>
      <p:sp>
        <p:nvSpPr>
          <p:cNvPr id="10" name="Разобраться в платформе — круг"/>
          <p:cNvSpPr/>
          <p:nvPr/>
        </p:nvSpPr>
        <p:spPr>
          <a:xfrm>
            <a:off x="4572000" y="16916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Разобраться в платформе — значок" descr="Разобраться в платформе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185623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23760" y="16916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9AA9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468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Разобраться в платформе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2834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Дашборд, данные и знания, агенты, модели, полигоны, проекты</a:t>
            </a:r>
            <a:endParaRPr lang="en-US" sz="1300" dirty="0"/>
          </a:p>
        </p:txBody>
      </p:sp>
      <p:sp>
        <p:nvSpPr>
          <p:cNvPr id="15" name="Задача 3"/>
          <p:cNvSpPr/>
          <p:nvPr/>
        </p:nvSpPr>
        <p:spPr>
          <a:xfrm>
            <a:off x="8046720" y="141732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305C">
                <a:alpha val="12000"/>
              </a:srgbClr>
            </a:outerShdw>
          </a:effectLst>
        </p:spPr>
      </p:sp>
      <p:sp>
        <p:nvSpPr>
          <p:cNvPr id="16" name="Научиться ставить задачу ИИ — круг"/>
          <p:cNvSpPr/>
          <p:nvPr/>
        </p:nvSpPr>
        <p:spPr>
          <a:xfrm>
            <a:off x="8321040" y="16916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Научиться ставить задачу ИИ — значок" descr="Научиться ставить задачу ИИ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1856232"/>
            <a:ext cx="356616" cy="35661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0972800" y="16916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9AA9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8321040" y="2468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Научиться ставить задачу ИИ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8321040" y="2834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Схема «что — где — какие данные — как должно работать»</a:t>
            </a:r>
            <a:endParaRPr lang="en-US" sz="1300" dirty="0"/>
          </a:p>
        </p:txBody>
      </p:sp>
      <p:sp>
        <p:nvSpPr>
          <p:cNvPr id="21" name="Задача 4"/>
          <p:cNvSpPr/>
          <p:nvPr/>
        </p:nvSpPr>
        <p:spPr>
          <a:xfrm>
            <a:off x="548640" y="379476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305C">
                <a:alpha val="12000"/>
              </a:srgbClr>
            </a:outerShdw>
          </a:effectLst>
        </p:spPr>
      </p:sp>
      <p:sp>
        <p:nvSpPr>
          <p:cNvPr id="22" name="Доработать платформу — круг"/>
          <p:cNvSpPr/>
          <p:nvPr/>
        </p:nvSpPr>
        <p:spPr>
          <a:xfrm>
            <a:off x="822960" y="406908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3" name="Доработать платформу — значок" descr="Доработать платформу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233672"/>
            <a:ext cx="356616" cy="35661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3474720" y="40690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9AA9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19"/>
          <p:cNvSpPr txBox="1"/>
          <p:nvPr/>
        </p:nvSpPr>
        <p:spPr>
          <a:xfrm>
            <a:off x="822960" y="4846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Доработать платформу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822960" y="5212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Сделать свою часть решения для управленческого кейса группы</a:t>
            </a:r>
            <a:endParaRPr lang="en-US" sz="1300" dirty="0"/>
          </a:p>
        </p:txBody>
      </p:sp>
      <p:sp>
        <p:nvSpPr>
          <p:cNvPr id="27" name="Задача 5"/>
          <p:cNvSpPr/>
          <p:nvPr/>
        </p:nvSpPr>
        <p:spPr>
          <a:xfrm>
            <a:off x="4297680" y="379476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305C">
                <a:alpha val="12000"/>
              </a:srgbClr>
            </a:outerShdw>
          </a:effectLst>
        </p:spPr>
      </p:sp>
      <p:sp>
        <p:nvSpPr>
          <p:cNvPr id="28" name="Проверить гипотезу — круг"/>
          <p:cNvSpPr/>
          <p:nvPr/>
        </p:nvSpPr>
        <p:spPr>
          <a:xfrm>
            <a:off x="4572000" y="406908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9" name="Проверить гипотезу — значок" descr="Проверить гипотезу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4233672"/>
            <a:ext cx="356616" cy="35661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223760" y="40690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9AA9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31" name="Text 24"/>
          <p:cNvSpPr txBox="1"/>
          <p:nvPr/>
        </p:nvSpPr>
        <p:spPr>
          <a:xfrm>
            <a:off x="4572000" y="4846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Проверить гипотезу</a:t>
            </a:r>
            <a:endParaRPr lang="en-US" sz="1700" dirty="0"/>
          </a:p>
        </p:txBody>
      </p:sp>
      <p:sp>
        <p:nvSpPr>
          <p:cNvPr id="32" name="Text 25"/>
          <p:cNvSpPr txBox="1"/>
          <p:nvPr/>
        </p:nvSpPr>
        <p:spPr>
          <a:xfrm>
            <a:off x="4572000" y="5212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Сравнить сценарии на полигоне и собрать мнения ИИ-фокус-группы</a:t>
            </a:r>
            <a:endParaRPr lang="en-US" sz="1300" dirty="0"/>
          </a:p>
        </p:txBody>
      </p:sp>
      <p:sp>
        <p:nvSpPr>
          <p:cNvPr id="33" name="Задача 6"/>
          <p:cNvSpPr/>
          <p:nvPr/>
        </p:nvSpPr>
        <p:spPr>
          <a:xfrm>
            <a:off x="8046720" y="379476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305C">
                <a:alpha val="12000"/>
              </a:srgbClr>
            </a:outerShdw>
          </a:effectLst>
        </p:spPr>
      </p:sp>
      <p:sp>
        <p:nvSpPr>
          <p:cNvPr id="34" name="Защитить решение — круг"/>
          <p:cNvSpPr/>
          <p:nvPr/>
        </p:nvSpPr>
        <p:spPr>
          <a:xfrm>
            <a:off x="8321040" y="406908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5" name="Защитить решение — значок" descr="Защитить решение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5632" y="4233672"/>
            <a:ext cx="356616" cy="356616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0972800" y="40690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9AA9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37" name="Text 29"/>
          <p:cNvSpPr txBox="1"/>
          <p:nvPr/>
        </p:nvSpPr>
        <p:spPr>
          <a:xfrm>
            <a:off x="8321040" y="4846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Защитить решение</a:t>
            </a:r>
            <a:endParaRPr lang="en-US" sz="1700" dirty="0"/>
          </a:p>
        </p:txBody>
      </p:sp>
      <p:sp>
        <p:nvSpPr>
          <p:cNvPr id="38" name="Text 30"/>
          <p:cNvSpPr txBox="1"/>
          <p:nvPr/>
        </p:nvSpPr>
        <p:spPr>
          <a:xfrm>
            <a:off x="8321040" y="5212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Показать работающую версию и план внедрения в своём вузе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Логика работы: от готового к своему</a:t>
            </a:r>
            <a:endParaRPr lang="en-US" sz="3000" dirty="0"/>
          </a:p>
        </p:txBody>
      </p:sp>
      <p:sp>
        <p:nvSpPr>
          <p:cNvPr id="3" name="Шаг 1"/>
          <p:cNvSpPr/>
          <p:nvPr/>
        </p:nvSpPr>
        <p:spPr>
          <a:xfrm>
            <a:off x="548640" y="1645920"/>
            <a:ext cx="1691640" cy="96012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78308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432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Знакомство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375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платформа, кейсы, группы</a:t>
            </a:r>
            <a:endParaRPr lang="en-US" sz="1300" dirty="0"/>
          </a:p>
        </p:txBody>
      </p:sp>
      <p:sp>
        <p:nvSpPr>
          <p:cNvPr id="7" name="Шаг 2"/>
          <p:cNvSpPr/>
          <p:nvPr/>
        </p:nvSpPr>
        <p:spPr>
          <a:xfrm>
            <a:off x="2423160" y="1645920"/>
            <a:ext cx="1691640" cy="96012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3200" y="178308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2423160" y="27432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Настройка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423160" y="33375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VS Code, Cline, ключи</a:t>
            </a:r>
            <a:endParaRPr lang="en-US" sz="1300" dirty="0"/>
          </a:p>
        </p:txBody>
      </p:sp>
      <p:sp>
        <p:nvSpPr>
          <p:cNvPr id="11" name="Шаг 3"/>
          <p:cNvSpPr/>
          <p:nvPr/>
        </p:nvSpPr>
        <p:spPr>
          <a:xfrm>
            <a:off x="4297680" y="1645920"/>
            <a:ext cx="1691640" cy="960120"/>
          </a:xfrm>
          <a:prstGeom prst="chevron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17720" y="178308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27432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Базовые доработки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33375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проверенные промпты</a:t>
            </a:r>
            <a:endParaRPr lang="en-US" sz="1300" dirty="0"/>
          </a:p>
        </p:txBody>
      </p:sp>
      <p:sp>
        <p:nvSpPr>
          <p:cNvPr id="15" name="Шаг 4"/>
          <p:cNvSpPr/>
          <p:nvPr/>
        </p:nvSpPr>
        <p:spPr>
          <a:xfrm>
            <a:off x="6172200" y="1645920"/>
            <a:ext cx="1691640" cy="960120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0" y="178308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27432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Своя доработка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172200" y="33375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часть решения группы</a:t>
            </a:r>
            <a:endParaRPr lang="en-US" sz="1300" dirty="0"/>
          </a:p>
        </p:txBody>
      </p:sp>
      <p:sp>
        <p:nvSpPr>
          <p:cNvPr id="19" name="Шаг 5"/>
          <p:cNvSpPr/>
          <p:nvPr/>
        </p:nvSpPr>
        <p:spPr>
          <a:xfrm>
            <a:off x="8046720" y="1645920"/>
            <a:ext cx="1691640" cy="960120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66760" y="178308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0" y="27432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Проверка гипотезы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0" y="33375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полигон + фокус-группа</a:t>
            </a:r>
            <a:endParaRPr lang="en-US" sz="1300" dirty="0"/>
          </a:p>
        </p:txBody>
      </p:sp>
      <p:sp>
        <p:nvSpPr>
          <p:cNvPr id="23" name="Шаг 6"/>
          <p:cNvSpPr/>
          <p:nvPr/>
        </p:nvSpPr>
        <p:spPr>
          <a:xfrm>
            <a:off x="9921240" y="1645920"/>
            <a:ext cx="1691640" cy="960120"/>
          </a:xfrm>
          <a:prstGeom prst="chevron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241280" y="178308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9921240" y="27432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Защита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921240" y="33375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демо и план внедрения</a:t>
            </a:r>
            <a:endParaRPr lang="en-US" sz="1300" dirty="0"/>
          </a:p>
        </p:txBody>
      </p:sp>
      <p:sp>
        <p:nvSpPr>
          <p:cNvPr id="27" name="День 1 · Такт 1"/>
          <p:cNvSpPr/>
          <p:nvPr/>
        </p:nvSpPr>
        <p:spPr>
          <a:xfrm>
            <a:off x="548640" y="4023360"/>
            <a:ext cx="3566160" cy="502920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40233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День 1 · Такт 1</a:t>
            </a:r>
            <a:endParaRPr lang="en-US" sz="1400" dirty="0"/>
          </a:p>
        </p:txBody>
      </p:sp>
      <p:sp>
        <p:nvSpPr>
          <p:cNvPr id="29" name="День 1 · Такт 2"/>
          <p:cNvSpPr/>
          <p:nvPr/>
        </p:nvSpPr>
        <p:spPr>
          <a:xfrm>
            <a:off x="4297680" y="4023360"/>
            <a:ext cx="1691640" cy="502920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297680" y="40233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День 1 · Такт 2</a:t>
            </a:r>
            <a:endParaRPr lang="en-US" sz="1400" dirty="0"/>
          </a:p>
        </p:txBody>
      </p:sp>
      <p:sp>
        <p:nvSpPr>
          <p:cNvPr id="31" name="День 2 · Такт 3"/>
          <p:cNvSpPr/>
          <p:nvPr/>
        </p:nvSpPr>
        <p:spPr>
          <a:xfrm>
            <a:off x="6172200" y="4023360"/>
            <a:ext cx="1691640" cy="502920"/>
          </a:xfrm>
          <a:prstGeom prst="roundRect">
            <a:avLst>
              <a:gd name="adj" fmla="val 18182"/>
            </a:avLst>
          </a:prstGeom>
          <a:solidFill>
            <a:srgbClr val="2A4F86"/>
          </a:solidFill>
          <a:ln w="12700">
            <a:solidFill>
              <a:srgbClr val="2A4F8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172200" y="40233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День 2 · Такт 3</a:t>
            </a:r>
            <a:endParaRPr lang="en-US" sz="1400" dirty="0"/>
          </a:p>
        </p:txBody>
      </p:sp>
      <p:sp>
        <p:nvSpPr>
          <p:cNvPr id="33" name="День 2 · Такт 4"/>
          <p:cNvSpPr/>
          <p:nvPr/>
        </p:nvSpPr>
        <p:spPr>
          <a:xfrm>
            <a:off x="8046720" y="4023360"/>
            <a:ext cx="3566160" cy="502920"/>
          </a:xfrm>
          <a:prstGeom prst="roundRect">
            <a:avLst>
              <a:gd name="adj" fmla="val 18182"/>
            </a:avLst>
          </a:prstGeom>
          <a:solidFill>
            <a:srgbClr val="2A4F86"/>
          </a:solidFill>
          <a:ln w="12700">
            <a:solidFill>
              <a:srgbClr val="2A4F8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046720" y="40233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День 2 · Такт 4</a:t>
            </a:r>
            <a:endParaRPr lang="en-US" sz="1400" dirty="0"/>
          </a:p>
        </p:txBody>
      </p:sp>
      <p:sp>
        <p:nvSpPr>
          <p:cNvPr id="35" name="Принцип"/>
          <p:cNvSpPr/>
          <p:nvPr/>
        </p:nvSpPr>
        <p:spPr>
          <a:xfrm>
            <a:off x="548640" y="4800600"/>
            <a:ext cx="110642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305C">
                <a:alpha val="12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822960" y="4937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Принцип: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сначала участник повторяет проверенные стартовые промпты и видит результат за 10–20 минут. Уверенность в инструменте появляется до того, как он берётся за собственную задачу. Каждый такт заканчивается видимым результатом на экране.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участник работает с Cline</a:t>
            </a:r>
            <a:endParaRPr lang="en-US" sz="3000" dirty="0"/>
          </a:p>
        </p:txBody>
      </p:sp>
      <p:sp>
        <p:nvSpPr>
          <p:cNvPr id="3" name="Промпт — круг"/>
          <p:cNvSpPr/>
          <p:nvPr/>
        </p:nvSpPr>
        <p:spPr>
          <a:xfrm>
            <a:off x="731520" y="155448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Промпт — значок" descr="Промп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" y="1762963"/>
            <a:ext cx="451714" cy="45171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603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Промпт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задача по-русски</a:t>
            </a:r>
            <a:endParaRPr lang="en-US" sz="1200" dirty="0"/>
          </a:p>
        </p:txBody>
      </p:sp>
      <p:sp>
        <p:nvSpPr>
          <p:cNvPr id="7" name="Стрелка 1"/>
          <p:cNvSpPr/>
          <p:nvPr/>
        </p:nvSpPr>
        <p:spPr>
          <a:xfrm>
            <a:off x="1691640" y="1874520"/>
            <a:ext cx="274320" cy="228600"/>
          </a:xfrm>
          <a:prstGeom prst="rightArrow">
            <a:avLst/>
          </a:prstGeom>
          <a:solidFill>
            <a:srgbClr val="9AA9BF"/>
          </a:solidFill>
          <a:ln w="12700">
            <a:solidFill>
              <a:srgbClr val="9AA9BF"/>
            </a:solidFill>
            <a:prstDash val="solid"/>
          </a:ln>
        </p:spPr>
      </p:sp>
      <p:sp>
        <p:nvSpPr>
          <p:cNvPr id="8" name="План — круг"/>
          <p:cNvSpPr/>
          <p:nvPr/>
        </p:nvSpPr>
        <p:spPr>
          <a:xfrm>
            <a:off x="2103120" y="155448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План — значок" descr="План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603" y="1762963"/>
            <a:ext cx="451714" cy="45171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920240" y="25603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План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920240" y="28803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Cline предлагает шаги</a:t>
            </a:r>
            <a:endParaRPr lang="en-US" sz="1200" dirty="0"/>
          </a:p>
        </p:txBody>
      </p:sp>
      <p:sp>
        <p:nvSpPr>
          <p:cNvPr id="12" name="Стрелка 2"/>
          <p:cNvSpPr/>
          <p:nvPr/>
        </p:nvSpPr>
        <p:spPr>
          <a:xfrm>
            <a:off x="3063240" y="1874520"/>
            <a:ext cx="274320" cy="228600"/>
          </a:xfrm>
          <a:prstGeom prst="rightArrow">
            <a:avLst/>
          </a:prstGeom>
          <a:solidFill>
            <a:srgbClr val="9AA9BF"/>
          </a:solidFill>
          <a:ln w="12700">
            <a:solidFill>
              <a:srgbClr val="9AA9BF"/>
            </a:solidFill>
            <a:prstDash val="solid"/>
          </a:ln>
        </p:spPr>
      </p:sp>
      <p:sp>
        <p:nvSpPr>
          <p:cNvPr id="13" name="Правка — круг"/>
          <p:cNvSpPr/>
          <p:nvPr/>
        </p:nvSpPr>
        <p:spPr>
          <a:xfrm>
            <a:off x="3474720" y="155448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Правка — значок" descr="Правк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203" y="1762963"/>
            <a:ext cx="451714" cy="45171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291840" y="25603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Правка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3291840" y="28803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участник одобряет</a:t>
            </a:r>
            <a:endParaRPr lang="en-US" sz="1200" dirty="0"/>
          </a:p>
        </p:txBody>
      </p:sp>
      <p:sp>
        <p:nvSpPr>
          <p:cNvPr id="17" name="Стрелка 3"/>
          <p:cNvSpPr/>
          <p:nvPr/>
        </p:nvSpPr>
        <p:spPr>
          <a:xfrm>
            <a:off x="4434840" y="1874520"/>
            <a:ext cx="274320" cy="228600"/>
          </a:xfrm>
          <a:prstGeom prst="rightArrow">
            <a:avLst/>
          </a:prstGeom>
          <a:solidFill>
            <a:srgbClr val="9AA9BF"/>
          </a:solidFill>
          <a:ln w="12700">
            <a:solidFill>
              <a:srgbClr val="9AA9BF"/>
            </a:solidFill>
            <a:prstDash val="solid"/>
          </a:ln>
        </p:spPr>
      </p:sp>
      <p:sp>
        <p:nvSpPr>
          <p:cNvPr id="18" name="Проверка — круг"/>
          <p:cNvSpPr/>
          <p:nvPr/>
        </p:nvSpPr>
        <p:spPr>
          <a:xfrm>
            <a:off x="4846320" y="155448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Проверка — значок" descr="Проверка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4803" y="1762963"/>
            <a:ext cx="451714" cy="45171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663440" y="25603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Проверка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4663440" y="28803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Ctrl+F5 в браузере</a:t>
            </a:r>
            <a:endParaRPr lang="en-US" sz="1200" dirty="0"/>
          </a:p>
        </p:txBody>
      </p:sp>
      <p:sp>
        <p:nvSpPr>
          <p:cNvPr id="22" name="Стрелка 4"/>
          <p:cNvSpPr/>
          <p:nvPr/>
        </p:nvSpPr>
        <p:spPr>
          <a:xfrm>
            <a:off x="5806440" y="1874520"/>
            <a:ext cx="274320" cy="228600"/>
          </a:xfrm>
          <a:prstGeom prst="rightArrow">
            <a:avLst/>
          </a:prstGeom>
          <a:solidFill>
            <a:srgbClr val="9AA9BF"/>
          </a:solidFill>
          <a:ln w="12700">
            <a:solidFill>
              <a:srgbClr val="9AA9BF"/>
            </a:solidFill>
            <a:prstDash val="solid"/>
          </a:ln>
        </p:spPr>
      </p:sp>
      <p:sp>
        <p:nvSpPr>
          <p:cNvPr id="23" name="Сохранение — круг"/>
          <p:cNvSpPr/>
          <p:nvPr/>
        </p:nvSpPr>
        <p:spPr>
          <a:xfrm>
            <a:off x="6217920" y="155448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4" name="Сохранение — значок" descr="Сохранение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6403" y="1762963"/>
            <a:ext cx="451714" cy="45171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035040" y="25603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Сохранение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6035040" y="28803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версия в git</a:t>
            </a:r>
            <a:endParaRPr lang="en-US" sz="1200" dirty="0"/>
          </a:p>
        </p:txBody>
      </p:sp>
      <p:sp>
        <p:nvSpPr>
          <p:cNvPr id="27" name="Файл правил"/>
          <p:cNvSpPr/>
          <p:nvPr/>
        </p:nvSpPr>
        <p:spPr>
          <a:xfrm>
            <a:off x="548640" y="3749040"/>
            <a:ext cx="658368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305C">
                <a:alpha val="12000"/>
              </a:srgbClr>
            </a:outerShdw>
          </a:effectLst>
        </p:spPr>
      </p:sp>
      <p:sp>
        <p:nvSpPr>
          <p:cNvPr id="28" name="Правила — круг"/>
          <p:cNvSpPr/>
          <p:nvPr/>
        </p:nvSpPr>
        <p:spPr>
          <a:xfrm>
            <a:off x="777240" y="3977640"/>
            <a:ext cx="685800" cy="6858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9" name="Правила — значок" descr="Правила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4142232"/>
            <a:ext cx="356616" cy="356616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645920" y="3977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Cline уже знает платформу</a:t>
            </a:r>
            <a:endParaRPr lang="en-US" sz="1700" dirty="0"/>
          </a:p>
        </p:txBody>
      </p:sp>
      <p:sp>
        <p:nvSpPr>
          <p:cNvPr id="31" name="Text 23"/>
          <p:cNvSpPr txBox="1"/>
          <p:nvPr/>
        </p:nvSpPr>
        <p:spPr>
          <a:xfrm>
            <a:off x="1645920" y="4389120"/>
            <a:ext cx="5303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Файл .clinerules в папке платформы — карта разделов и рецепты типовых доработок. Cline читает его перед каждой задачей: отвечает по-русски, сначала даёт план, после правки говорит, как проверить результат, и не трогает авторизацию и данные пользователей.</a:t>
            </a:r>
            <a:endParaRPr lang="en-US" sz="1400" dirty="0"/>
          </a:p>
        </p:txBody>
      </p:sp>
      <p:sp>
        <p:nvSpPr>
          <p:cNvPr id="32" name="Правила участника"/>
          <p:cNvSpPr/>
          <p:nvPr/>
        </p:nvSpPr>
        <p:spPr>
          <a:xfrm>
            <a:off x="7498080" y="1371600"/>
            <a:ext cx="4114800" cy="4663440"/>
          </a:xfrm>
          <a:prstGeom prst="roundRect">
            <a:avLst>
              <a:gd name="adj" fmla="val 2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14305C">
                <a:alpha val="12000"/>
              </a:srgbClr>
            </a:outerShdw>
          </a:effectLst>
        </p:spPr>
      </p:sp>
      <p:sp>
        <p:nvSpPr>
          <p:cNvPr id="33" name="Text 25"/>
          <p:cNvSpPr txBox="1"/>
          <p:nvPr/>
        </p:nvSpPr>
        <p:spPr>
          <a:xfrm>
            <a:off x="7772400" y="1600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Правила участника</a:t>
            </a:r>
            <a:endParaRPr lang="en-US" sz="1800" dirty="0"/>
          </a:p>
        </p:txBody>
      </p:sp>
      <p:sp>
        <p:nvSpPr>
          <p:cNvPr id="34" name="Text 26"/>
          <p:cNvSpPr txBox="1"/>
          <p:nvPr/>
        </p:nvSpPr>
        <p:spPr>
          <a:xfrm>
            <a:off x="7772400" y="2148840"/>
            <a:ext cx="3566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Одна задача — один промпт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Сначала читаем план, потом одобряем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Проверяем в браузере после каждого шага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Удачный шаг — сохраняем версию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Не вышло за 2–3 попытки — откат и задача помельче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Инструменты и подготовка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Что нужно на ноутбуке участника и что организаторы готовят заранее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Набор инструментов участника</a:t>
            </a:r>
            <a:endParaRPr lang="en-US" sz="3000" dirty="0"/>
          </a:p>
        </p:txBody>
      </p:sp>
      <p:sp>
        <p:nvSpPr>
          <p:cNvPr id="3" name="VS Code"/>
          <p:cNvSpPr/>
          <p:nvPr/>
        </p:nvSpPr>
        <p:spPr>
          <a:xfrm>
            <a:off x="548640" y="1325880"/>
            <a:ext cx="5440680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305C">
                <a:alpha val="12000"/>
              </a:srgbClr>
            </a:outerShdw>
          </a:effectLst>
        </p:spPr>
      </p:sp>
      <p:sp>
        <p:nvSpPr>
          <p:cNvPr id="4" name="VS Code — круг"/>
          <p:cNvSpPr/>
          <p:nvPr/>
        </p:nvSpPr>
        <p:spPr>
          <a:xfrm>
            <a:off x="731520" y="1527048"/>
            <a:ext cx="676656" cy="6766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VS Code — значок" descr="VS C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917" y="1689445"/>
            <a:ext cx="351861" cy="35186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43560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VS Code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75564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Редактор, в котором работает Cline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2057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Ставим заранее (бесплатно)</a:t>
            </a:r>
            <a:endParaRPr lang="en-US" sz="1200" dirty="0"/>
          </a:p>
        </p:txBody>
      </p:sp>
      <p:sp>
        <p:nvSpPr>
          <p:cNvPr id="9" name="Cline"/>
          <p:cNvSpPr/>
          <p:nvPr/>
        </p:nvSpPr>
        <p:spPr>
          <a:xfrm>
            <a:off x="6172200" y="1325880"/>
            <a:ext cx="5440680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305C">
                <a:alpha val="12000"/>
              </a:srgbClr>
            </a:outerShdw>
          </a:effectLst>
        </p:spPr>
      </p:sp>
      <p:sp>
        <p:nvSpPr>
          <p:cNvPr id="10" name="Cline — круг"/>
          <p:cNvSpPr/>
          <p:nvPr/>
        </p:nvSpPr>
        <p:spPr>
          <a:xfrm>
            <a:off x="6355080" y="1527048"/>
            <a:ext cx="676656" cy="6766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Cline — значок" descr="Cli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477" y="1689445"/>
            <a:ext cx="351861" cy="35186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23760" y="143560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Cline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7223760" y="175564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ИИ-помощник: читает и правит файлы платформы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223760" y="2057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Расширение из Marketplace VS Code</a:t>
            </a:r>
            <a:endParaRPr lang="en-US" sz="1200" dirty="0"/>
          </a:p>
        </p:txBody>
      </p:sp>
      <p:sp>
        <p:nvSpPr>
          <p:cNvPr id="15" name="Ключ к модели для Cline"/>
          <p:cNvSpPr/>
          <p:nvPr/>
        </p:nvSpPr>
        <p:spPr>
          <a:xfrm>
            <a:off x="548640" y="2542032"/>
            <a:ext cx="5440680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305C">
                <a:alpha val="12000"/>
              </a:srgbClr>
            </a:outerShdw>
          </a:effectLst>
        </p:spPr>
      </p:sp>
      <p:sp>
        <p:nvSpPr>
          <p:cNvPr id="16" name="Ключ к модели для Cline — круг"/>
          <p:cNvSpPr/>
          <p:nvPr/>
        </p:nvSpPr>
        <p:spPr>
          <a:xfrm>
            <a:off x="731520" y="2743200"/>
            <a:ext cx="676656" cy="6766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Ключ к модели для Cline — значок" descr="Ключ к модели для Cli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917" y="2905597"/>
            <a:ext cx="351861" cy="35186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600200" y="26517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Ключ к модели для Cline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1600200" y="29718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Claude через Anthropic, OpenRouter или прокси-API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1600200" y="32735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Выдают организаторы, с лимитом</a:t>
            </a:r>
            <a:endParaRPr lang="en-US" sz="1200" dirty="0"/>
          </a:p>
        </p:txBody>
      </p:sp>
      <p:sp>
        <p:nvSpPr>
          <p:cNvPr id="21" name="Платформа AIOS"/>
          <p:cNvSpPr/>
          <p:nvPr/>
        </p:nvSpPr>
        <p:spPr>
          <a:xfrm>
            <a:off x="6172200" y="2542032"/>
            <a:ext cx="5440680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305C">
                <a:alpha val="12000"/>
              </a:srgbClr>
            </a:outerShdw>
          </a:effectLst>
        </p:spPr>
      </p:sp>
      <p:sp>
        <p:nvSpPr>
          <p:cNvPr id="22" name="Платформа AIOS — круг"/>
          <p:cNvSpPr/>
          <p:nvPr/>
        </p:nvSpPr>
        <p:spPr>
          <a:xfrm>
            <a:off x="6355080" y="2743200"/>
            <a:ext cx="676656" cy="6766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Платформа AIOS — значок" descr="Платформа AIO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7477" y="2905597"/>
            <a:ext cx="351861" cy="351861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223760" y="26517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Платформа AIOS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7223760" y="29718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Папка платформы: ZIP с GitHub или git clone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7223760" y="32735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Раздаём ссылкой или на флешке</a:t>
            </a:r>
            <a:endParaRPr lang="en-US" sz="1200" dirty="0"/>
          </a:p>
        </p:txBody>
      </p:sp>
      <p:sp>
        <p:nvSpPr>
          <p:cNvPr id="27" name="Python 3.10+"/>
          <p:cNvSpPr/>
          <p:nvPr/>
        </p:nvSpPr>
        <p:spPr>
          <a:xfrm>
            <a:off x="548640" y="3758184"/>
            <a:ext cx="5440680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305C">
                <a:alpha val="12000"/>
              </a:srgbClr>
            </a:outerShdw>
          </a:effectLst>
        </p:spPr>
      </p:sp>
      <p:sp>
        <p:nvSpPr>
          <p:cNvPr id="28" name="Python 3.10+ — круг"/>
          <p:cNvSpPr/>
          <p:nvPr/>
        </p:nvSpPr>
        <p:spPr>
          <a:xfrm>
            <a:off x="731520" y="3959352"/>
            <a:ext cx="676656" cy="676656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9" name="Python 3.10+ — значок" descr="Python 3.10+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917" y="4121749"/>
            <a:ext cx="351861" cy="351861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600200" y="38679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Python 3.10+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1600200" y="41879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Для запуска платформы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600200" y="448970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Ставит скрипт запуска сам</a:t>
            </a:r>
            <a:endParaRPr lang="en-US" sz="1200" dirty="0"/>
          </a:p>
        </p:txBody>
      </p:sp>
      <p:sp>
        <p:nvSpPr>
          <p:cNvPr id="33" name="Git"/>
          <p:cNvSpPr/>
          <p:nvPr/>
        </p:nvSpPr>
        <p:spPr>
          <a:xfrm>
            <a:off x="6172200" y="3758184"/>
            <a:ext cx="5440680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305C">
                <a:alpha val="12000"/>
              </a:srgbClr>
            </a:outerShdw>
          </a:effectLst>
        </p:spPr>
      </p:sp>
      <p:sp>
        <p:nvSpPr>
          <p:cNvPr id="34" name="Git — круг"/>
          <p:cNvSpPr/>
          <p:nvPr/>
        </p:nvSpPr>
        <p:spPr>
          <a:xfrm>
            <a:off x="6355080" y="3959352"/>
            <a:ext cx="676656" cy="676656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35" name="Git — значок" descr="Gi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7477" y="4121749"/>
            <a:ext cx="351861" cy="351861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7223760" y="38679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Git</a:t>
            </a:r>
            <a:endParaRPr lang="en-US" sz="1500" dirty="0"/>
          </a:p>
        </p:txBody>
      </p:sp>
      <p:sp>
        <p:nvSpPr>
          <p:cNvPr id="37" name="Text 29"/>
          <p:cNvSpPr txBox="1"/>
          <p:nvPr/>
        </p:nvSpPr>
        <p:spPr>
          <a:xfrm>
            <a:off x="7223760" y="41879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Сохранение версий и откат неудачных правок</a:t>
            </a:r>
            <a:endParaRPr lang="en-US" sz="1200" dirty="0"/>
          </a:p>
        </p:txBody>
      </p:sp>
      <p:sp>
        <p:nvSpPr>
          <p:cNvPr id="38" name="Text 30"/>
          <p:cNvSpPr txBox="1"/>
          <p:nvPr/>
        </p:nvSpPr>
        <p:spPr>
          <a:xfrm>
            <a:off x="7223760" y="448970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Ставим заранее (рекомендуется)</a:t>
            </a:r>
            <a:endParaRPr lang="en-US" sz="1200" dirty="0"/>
          </a:p>
        </p:txBody>
      </p:sp>
      <p:sp>
        <p:nvSpPr>
          <p:cNvPr id="39" name="Браузер"/>
          <p:cNvSpPr/>
          <p:nvPr/>
        </p:nvSpPr>
        <p:spPr>
          <a:xfrm>
            <a:off x="548640" y="4974336"/>
            <a:ext cx="5440680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305C">
                <a:alpha val="12000"/>
              </a:srgbClr>
            </a:outerShdw>
          </a:effectLst>
        </p:spPr>
      </p:sp>
      <p:sp>
        <p:nvSpPr>
          <p:cNvPr id="40" name="Браузер — круг"/>
          <p:cNvSpPr/>
          <p:nvPr/>
        </p:nvSpPr>
        <p:spPr>
          <a:xfrm>
            <a:off x="731520" y="5175504"/>
            <a:ext cx="676656" cy="676656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1" name="Браузер — значок" descr="Браузер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3917" y="5337901"/>
            <a:ext cx="351861" cy="351861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1600200" y="508406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Браузер</a:t>
            </a:r>
            <a:endParaRPr lang="en-US" sz="1500" dirty="0"/>
          </a:p>
        </p:txBody>
      </p:sp>
      <p:sp>
        <p:nvSpPr>
          <p:cNvPr id="43" name="Text 34"/>
          <p:cNvSpPr txBox="1"/>
          <p:nvPr/>
        </p:nvSpPr>
        <p:spPr>
          <a:xfrm>
            <a:off x="1600200" y="540410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Смотрим результат: localhost:8000</a:t>
            </a:r>
            <a:endParaRPr lang="en-US" sz="1200" dirty="0"/>
          </a:p>
        </p:txBody>
      </p:sp>
      <p:sp>
        <p:nvSpPr>
          <p:cNvPr id="44" name="Text 35"/>
          <p:cNvSpPr txBox="1"/>
          <p:nvPr/>
        </p:nvSpPr>
        <p:spPr>
          <a:xfrm>
            <a:off x="1600200" y="57058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Уже есть</a:t>
            </a:r>
            <a:endParaRPr lang="en-US" sz="1200" dirty="0"/>
          </a:p>
        </p:txBody>
      </p:sp>
      <p:sp>
        <p:nvSpPr>
          <p:cNvPr id="45" name="Ключ LLM для чата платформы"/>
          <p:cNvSpPr/>
          <p:nvPr/>
        </p:nvSpPr>
        <p:spPr>
          <a:xfrm>
            <a:off x="6172200" y="4974336"/>
            <a:ext cx="5440680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305C">
                <a:alpha val="12000"/>
              </a:srgbClr>
            </a:outerShdw>
          </a:effectLst>
        </p:spPr>
      </p:sp>
      <p:sp>
        <p:nvSpPr>
          <p:cNvPr id="46" name="Ключ LLM для чата платформы — круг"/>
          <p:cNvSpPr/>
          <p:nvPr/>
        </p:nvSpPr>
        <p:spPr>
          <a:xfrm>
            <a:off x="6355080" y="5175504"/>
            <a:ext cx="676656" cy="676656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7" name="Ключ LLM для чата платформы — значок" descr="Ключ LLM для чата платформы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7477" y="5337901"/>
            <a:ext cx="351861" cy="351861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7223760" y="508406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Ключ LLM для чата платформы</a:t>
            </a:r>
            <a:endParaRPr lang="en-US" sz="1500" dirty="0"/>
          </a:p>
        </p:txBody>
      </p:sp>
      <p:sp>
        <p:nvSpPr>
          <p:cNvPr id="49" name="Text 39"/>
          <p:cNvSpPr txBox="1"/>
          <p:nvPr/>
        </p:nvSpPr>
        <p:spPr>
          <a:xfrm>
            <a:off x="7223760" y="540410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Агенты внутри AIOS: онбординг, ИИ-фокус-группа</a:t>
            </a:r>
            <a:endParaRPr lang="en-US" sz="1200" dirty="0"/>
          </a:p>
        </p:txBody>
      </p:sp>
      <p:sp>
        <p:nvSpPr>
          <p:cNvPr id="50" name="Text 40"/>
          <p:cNvSpPr txBox="1"/>
          <p:nvPr/>
        </p:nvSpPr>
        <p:spPr>
          <a:xfrm>
            <a:off x="7223760" y="57058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Админ-панель → Настройки внешних API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Подготовка: организаторы и участник</a:t>
            </a:r>
            <a:endParaRPr lang="en-US" sz="3000" dirty="0"/>
          </a:p>
        </p:txBody>
      </p:sp>
      <p:sp>
        <p:nvSpPr>
          <p:cNvPr id="3" name="Организаторы"/>
          <p:cNvSpPr/>
          <p:nvPr/>
        </p:nvSpPr>
        <p:spPr>
          <a:xfrm>
            <a:off x="548640" y="1325880"/>
            <a:ext cx="5486400" cy="4754880"/>
          </a:xfrm>
          <a:prstGeom prst="roundRect">
            <a:avLst>
              <a:gd name="adj" fmla="val 23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305C">
                <a:alpha val="12000"/>
              </a:srgbClr>
            </a:outerShdw>
          </a:effectLst>
        </p:spPr>
      </p:sp>
      <p:sp>
        <p:nvSpPr>
          <p:cNvPr id="4" name="Организаторы — круг"/>
          <p:cNvSpPr/>
          <p:nvPr/>
        </p:nvSpPr>
        <p:spPr>
          <a:xfrm>
            <a:off x="777240" y="15544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Организаторы — значок" descr="Организаторы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71907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45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Организаторы — за неделю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5029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Выбрать провайдера и модель для Cline, проверить доступ из сети площадки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Выпустить ключи с лимитом расходов и держать резервные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Предустановить VS Code, Cline и Git на ноутбуки или разослать инструкцию со скриншотами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Положить в папку платформы .clinerules и памятку со стартовыми промптами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Прогнать стартовые промпты в Cline на выбранной модели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Подобрать дежурных: 1 техспециалист на 10–12 участников</a:t>
            </a:r>
            <a:endParaRPr lang="en-US" sz="1400" dirty="0"/>
          </a:p>
        </p:txBody>
      </p:sp>
      <p:sp>
        <p:nvSpPr>
          <p:cNvPr id="8" name="Чек-лист участника"/>
          <p:cNvSpPr/>
          <p:nvPr/>
        </p:nvSpPr>
        <p:spPr>
          <a:xfrm>
            <a:off x="6309360" y="1325880"/>
            <a:ext cx="5303520" cy="4754880"/>
          </a:xfrm>
          <a:prstGeom prst="roundRect">
            <a:avLst>
              <a:gd name="adj" fmla="val 230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14305C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583680" y="1554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Чек-лист «Готов к работе»</a:t>
            </a:r>
            <a:endParaRPr lang="en-US" sz="1800" dirty="0"/>
          </a:p>
        </p:txBody>
      </p:sp>
      <p:sp>
        <p:nvSpPr>
          <p:cNvPr id="10" name="Пункт 1 — круг"/>
          <p:cNvSpPr/>
          <p:nvPr/>
        </p:nvSpPr>
        <p:spPr>
          <a:xfrm>
            <a:off x="6629400" y="218541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Пункт 1 — значок" descr="Пункт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8404" y="2264420"/>
            <a:ext cx="171176" cy="17117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32320" y="21488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Платформа открывается на localhost:8000</a:t>
            </a:r>
            <a:endParaRPr lang="en-US" sz="1400" dirty="0"/>
          </a:p>
        </p:txBody>
      </p:sp>
      <p:sp>
        <p:nvSpPr>
          <p:cNvPr id="13" name="Пункт 2 — круг"/>
          <p:cNvSpPr/>
          <p:nvPr/>
        </p:nvSpPr>
        <p:spPr>
          <a:xfrm>
            <a:off x="6629400" y="2715768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Пункт 2 — значок" descr="Пункт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8404" y="2794772"/>
            <a:ext cx="171176" cy="17117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132320" y="267919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Вход admin@university.local выполнен</a:t>
            </a:r>
            <a:endParaRPr lang="en-US" sz="1400" dirty="0"/>
          </a:p>
        </p:txBody>
      </p:sp>
      <p:sp>
        <p:nvSpPr>
          <p:cNvPr id="16" name="Пункт 3 — круг"/>
          <p:cNvSpPr/>
          <p:nvPr/>
        </p:nvSpPr>
        <p:spPr>
          <a:xfrm>
            <a:off x="6629400" y="3246120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Пункт 3 — значок" descr="Пункт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8404" y="3325124"/>
            <a:ext cx="171176" cy="17117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132320" y="320954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VS Code открыт с папкой платформы</a:t>
            </a:r>
            <a:endParaRPr lang="en-US" sz="1400" dirty="0"/>
          </a:p>
        </p:txBody>
      </p:sp>
      <p:sp>
        <p:nvSpPr>
          <p:cNvPr id="19" name="Пункт 4 — круг"/>
          <p:cNvSpPr/>
          <p:nvPr/>
        </p:nvSpPr>
        <p:spPr>
          <a:xfrm>
            <a:off x="6629400" y="377647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Пункт 4 — значок" descr="Пункт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8404" y="3855476"/>
            <a:ext cx="171176" cy="17117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132320" y="373989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Cline отвечает на «Привет»</a:t>
            </a:r>
            <a:endParaRPr lang="en-US" sz="1400" dirty="0"/>
          </a:p>
        </p:txBody>
      </p:sp>
      <p:sp>
        <p:nvSpPr>
          <p:cNvPr id="22" name="Пункт 5 — круг"/>
          <p:cNvSpPr/>
          <p:nvPr/>
        </p:nvSpPr>
        <p:spPr>
          <a:xfrm>
            <a:off x="6629400" y="430682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3" name="Пункт 5 — значок" descr="Пункт 5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8404" y="4385828"/>
            <a:ext cx="171176" cy="171176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7132320" y="427024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Cline пересказывает правила из .clinerules</a:t>
            </a:r>
            <a:endParaRPr lang="en-US" sz="1400" dirty="0"/>
          </a:p>
        </p:txBody>
      </p:sp>
      <p:sp>
        <p:nvSpPr>
          <p:cNvPr id="25" name="Пункт 6 — круг"/>
          <p:cNvSpPr/>
          <p:nvPr/>
        </p:nvSpPr>
        <p:spPr>
          <a:xfrm>
            <a:off x="6629400" y="483717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6" name="Пункт 6 — значок" descr="Пункт 6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8404" y="4916180"/>
            <a:ext cx="171176" cy="171176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7132320" y="48006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Исходная версия сохранена в git</a:t>
            </a:r>
            <a:endParaRPr lang="en-US" sz="1400" dirty="0"/>
          </a:p>
        </p:txBody>
      </p:sp>
      <p:sp>
        <p:nvSpPr>
          <p:cNvPr id="28" name="Пункт 7 — круг"/>
          <p:cNvSpPr/>
          <p:nvPr/>
        </p:nvSpPr>
        <p:spPr>
          <a:xfrm>
            <a:off x="6629400" y="5367528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9" name="Пункт 7 — значок" descr="Пункт 7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08404" y="5446532"/>
            <a:ext cx="171176" cy="171176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7132320" y="533095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Чат платформы отвечает (ключ LLM)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Формат и групповое задание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Индивидуальная работа на своей копии платформы внутри группы с общим управленческим кейсом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Индивидуально — в группе с общим кейсом</a:t>
            </a:r>
            <a:endParaRPr lang="en-US" sz="3000" dirty="0"/>
          </a:p>
        </p:txBody>
      </p:sp>
      <p:sp>
        <p:nvSpPr>
          <p:cNvPr id="3" name="Схема группы"/>
          <p:cNvSpPr/>
          <p:nvPr/>
        </p:nvSpPr>
        <p:spPr>
          <a:xfrm>
            <a:off x="548640" y="1371600"/>
            <a:ext cx="5669280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305C">
                <a:alpha val="12000"/>
              </a:srgbClr>
            </a:outerShdw>
          </a:effectLst>
        </p:spPr>
      </p:sp>
      <p:sp>
        <p:nvSpPr>
          <p:cNvPr id="4" name="Кейс группы"/>
          <p:cNvSpPr/>
          <p:nvPr/>
        </p:nvSpPr>
        <p:spPr>
          <a:xfrm>
            <a:off x="2423160" y="2788920"/>
            <a:ext cx="1920240" cy="19202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560320" y="32461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Общий кейс и гипотеза</a:t>
            </a:r>
            <a:endParaRPr lang="en-US" sz="1400" dirty="0"/>
          </a:p>
        </p:txBody>
      </p:sp>
      <p:sp>
        <p:nvSpPr>
          <p:cNvPr id="6" name="Владелец — круг"/>
          <p:cNvSpPr/>
          <p:nvPr/>
        </p:nvSpPr>
        <p:spPr>
          <a:xfrm>
            <a:off x="1005840" y="160020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Владелец — значок" descr="Владеле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1405" y="1775765"/>
            <a:ext cx="380390" cy="3803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2377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Владелец</a:t>
            </a:r>
            <a:endParaRPr lang="en-US" sz="1200" dirty="0"/>
          </a:p>
        </p:txBody>
      </p:sp>
      <p:sp>
        <p:nvSpPr>
          <p:cNvPr id="9" name="Аналитик — круг"/>
          <p:cNvSpPr/>
          <p:nvPr/>
        </p:nvSpPr>
        <p:spPr>
          <a:xfrm>
            <a:off x="4754880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Аналитик — значок" descr="Аналитик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0445" y="177576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389120" y="2377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Аналитик</a:t>
            </a:r>
            <a:endParaRPr lang="en-US" sz="1200" dirty="0"/>
          </a:p>
        </p:txBody>
      </p:sp>
      <p:sp>
        <p:nvSpPr>
          <p:cNvPr id="12" name="Архитектор — круг"/>
          <p:cNvSpPr/>
          <p:nvPr/>
        </p:nvSpPr>
        <p:spPr>
          <a:xfrm>
            <a:off x="777240" y="4526280"/>
            <a:ext cx="731520" cy="7315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3" name="Архитектор — значок" descr="Архитектор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05" y="4701845"/>
            <a:ext cx="380390" cy="38039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11480" y="5303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Архитектор</a:t>
            </a:r>
            <a:endParaRPr lang="en-US" sz="1200" dirty="0"/>
          </a:p>
        </p:txBody>
      </p:sp>
      <p:sp>
        <p:nvSpPr>
          <p:cNvPr id="15" name="Инженер — круг"/>
          <p:cNvSpPr/>
          <p:nvPr/>
        </p:nvSpPr>
        <p:spPr>
          <a:xfrm>
            <a:off x="4983480" y="452628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6" name="Инженер — значок" descr="Инженер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9045" y="4701845"/>
            <a:ext cx="380390" cy="38039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617720" y="5303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Инженер</a:t>
            </a:r>
            <a:endParaRPr lang="en-US" sz="1200" dirty="0"/>
          </a:p>
        </p:txBody>
      </p:sp>
      <p:sp>
        <p:nvSpPr>
          <p:cNvPr id="18" name="Модельер — круг"/>
          <p:cNvSpPr/>
          <p:nvPr/>
        </p:nvSpPr>
        <p:spPr>
          <a:xfrm>
            <a:off x="2926080" y="150876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9" name="Модельер — значок" descr="Модельер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1645" y="1684325"/>
            <a:ext cx="380390" cy="38039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2560320" y="2286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Модельер</a:t>
            </a:r>
            <a:endParaRPr lang="en-US" sz="1200" dirty="0"/>
          </a:p>
        </p:txBody>
      </p:sp>
      <p:sp>
        <p:nvSpPr>
          <p:cNvPr id="21" name="Text 14"/>
          <p:cNvSpPr txBox="1"/>
          <p:nvPr/>
        </p:nvSpPr>
        <p:spPr>
          <a:xfrm>
            <a:off x="6583680" y="1371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4–5</a:t>
            </a:r>
            <a:endParaRPr lang="en-US" sz="3600" dirty="0"/>
          </a:p>
        </p:txBody>
      </p:sp>
      <p:sp>
        <p:nvSpPr>
          <p:cNvPr id="22" name="Text 15"/>
          <p:cNvSpPr txBox="1"/>
          <p:nvPr/>
        </p:nvSpPr>
        <p:spPr>
          <a:xfrm>
            <a:off x="8229600" y="13716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участников в группе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6583680" y="22860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24" name="Text 17"/>
          <p:cNvSpPr txBox="1"/>
          <p:nvPr/>
        </p:nvSpPr>
        <p:spPr>
          <a:xfrm>
            <a:off x="8229600" y="22860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управленческих кейса на выбор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6583680" y="32004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× 2</a:t>
            </a:r>
            <a:endParaRPr lang="en-US" sz="3600" dirty="0"/>
          </a:p>
        </p:txBody>
      </p:sp>
      <p:sp>
        <p:nvSpPr>
          <p:cNvPr id="26" name="Text 19"/>
          <p:cNvSpPr txBox="1"/>
          <p:nvPr/>
        </p:nvSpPr>
        <p:spPr>
          <a:xfrm>
            <a:off x="8229600" y="32004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дня и такта работы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6583680" y="42519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Индивидуально: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каждый работает на своей копии платформы на своём ноутбуке и отвечает за свою часть решения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6583680" y="51663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В группе: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общий кейс, общее ТЗ, общая гипотеза на полигоне и общая защита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Кейсы групп: гипотеза и что доработать</a:t>
            </a:r>
            <a:endParaRPr lang="en-US" sz="3000" dirty="0"/>
          </a:p>
        </p:txBody>
      </p:sp>
      <p:sp>
        <p:nvSpPr>
          <p:cNvPr id="3" name="А. Запуск стартап-студии"/>
          <p:cNvSpPr/>
          <p:nvPr/>
        </p:nvSpPr>
        <p:spPr>
          <a:xfrm>
            <a:off x="548640" y="1325880"/>
            <a:ext cx="544068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305C">
                <a:alpha val="12000"/>
              </a:srgbClr>
            </a:outerShdw>
          </a:effectLst>
        </p:spPr>
      </p:sp>
      <p:sp>
        <p:nvSpPr>
          <p:cNvPr id="4" name="А. Запуск стартап-студии — круг"/>
          <p:cNvSpPr/>
          <p:nvPr/>
        </p:nvSpPr>
        <p:spPr>
          <a:xfrm>
            <a:off x="777240" y="15544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А. Запуск стартап-студии — значок" descr="А. Запуск стартап-студи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71907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1848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А. Запуск стартап-студии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317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Гипотеза: </a:t>
            </a:r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Студия даст не меньше 8 стартапов за 5 лет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346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C63"/>
                </a:solidFill>
              </a:rPr>
              <a:t>Виджет «Воронка студии» · раздел «Команды и трекеры» · агент-трекер · полигон «Запуск стартап-студии»</a:t>
            </a:r>
            <a:endParaRPr lang="en-US" sz="1200" dirty="0"/>
          </a:p>
        </p:txBody>
      </p:sp>
      <p:sp>
        <p:nvSpPr>
          <p:cNvPr id="9" name="Б. Ревизия патентного портфеля"/>
          <p:cNvSpPr/>
          <p:nvPr/>
        </p:nvSpPr>
        <p:spPr>
          <a:xfrm>
            <a:off x="6172200" y="1325880"/>
            <a:ext cx="544068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305C">
                <a:alpha val="12000"/>
              </a:srgbClr>
            </a:outerShdw>
          </a:effectLst>
        </p:spPr>
      </p:sp>
      <p:sp>
        <p:nvSpPr>
          <p:cNvPr id="10" name="Б. Ревизия патентного портфеля — круг"/>
          <p:cNvSpPr/>
          <p:nvPr/>
        </p:nvSpPr>
        <p:spPr>
          <a:xfrm>
            <a:off x="6400800" y="1554480"/>
            <a:ext cx="685800" cy="6858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1" name="Б. Ревизия патентного портфеля — значок" descr="Б. Ревизия патентного портфеля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171907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69480" y="161848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Б. Ревизия патентного портфеля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446520" y="23317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Гипотеза: </a:t>
            </a:r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Ежегодные Kill-гейты сократят застрявшие проекты до 10 и не снизят выходы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446520" y="28346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C63"/>
                </a:solidFill>
              </a:rPr>
              <a:t>Плитка «Пошлины без лицензиата» · раздел «Решения комиссии по ИС» · агент «Секретарь комиссии» · полигон «Ревизия портфеля»</a:t>
            </a:r>
            <a:endParaRPr lang="en-US" sz="1200" dirty="0"/>
          </a:p>
        </p:txBody>
      </p:sp>
      <p:sp>
        <p:nvSpPr>
          <p:cNvPr id="15" name="В. Студенческое предпринимательство"/>
          <p:cNvSpPr/>
          <p:nvPr/>
        </p:nvSpPr>
        <p:spPr>
          <a:xfrm>
            <a:off x="548640" y="3703320"/>
            <a:ext cx="544068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305C">
                <a:alpha val="12000"/>
              </a:srgbClr>
            </a:outerShdw>
          </a:effectLst>
        </p:spPr>
      </p:sp>
      <p:sp>
        <p:nvSpPr>
          <p:cNvPr id="16" name="В. Студенческое предпринимательство — круг"/>
          <p:cNvSpPr/>
          <p:nvPr/>
        </p:nvSpPr>
        <p:spPr>
          <a:xfrm>
            <a:off x="777240" y="393192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В. Студенческое предпринимательство — значок" descr="В. Студенческое предпринимательство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4096512"/>
            <a:ext cx="356616" cy="35661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645920" y="399592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В. Студенческое предпринимательство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22960" y="47091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Гипотеза: </a:t>
            </a:r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«Стартап как диплом» даст не меньше 5 стартапов за 4 года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822960" y="52120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C63"/>
                </a:solidFill>
              </a:rPr>
              <a:t>Виджет «Студенты в акселераторах» · раздел «Календарь конкурсов» · агент «Навигатор мер поддержки» · полигон «Стартап как диплом»</a:t>
            </a:r>
            <a:endParaRPr lang="en-US" sz="1200" dirty="0"/>
          </a:p>
        </p:txBody>
      </p:sp>
      <p:sp>
        <p:nvSpPr>
          <p:cNvPr id="21" name="Г. Индустриальные партнёры и МТК"/>
          <p:cNvSpPr/>
          <p:nvPr/>
        </p:nvSpPr>
        <p:spPr>
          <a:xfrm>
            <a:off x="6172200" y="3703320"/>
            <a:ext cx="544068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305C">
                <a:alpha val="12000"/>
              </a:srgbClr>
            </a:outerShdw>
          </a:effectLst>
        </p:spPr>
      </p:sp>
      <p:sp>
        <p:nvSpPr>
          <p:cNvPr id="22" name="Г. Индустриальные партнёры и МТК — круг"/>
          <p:cNvSpPr/>
          <p:nvPr/>
        </p:nvSpPr>
        <p:spPr>
          <a:xfrm>
            <a:off x="6400800" y="3931920"/>
            <a:ext cx="685800" cy="6858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3" name="Г. Индустриальные партнёры и МТК — значок" descr="Г. Индустриальные партнёры и МТК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4096512"/>
            <a:ext cx="356616" cy="35661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269480" y="399592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Г. Индустриальные партнёры и МТК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6446520" y="47091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Гипотеза: </a:t>
            </a:r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Работа с якорными партнёрами удвоит лицензионные сделки за 3 года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6446520" y="52120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C63"/>
                </a:solidFill>
              </a:rPr>
              <a:t>Раздел «Партнёры» · поле проекта «Индустриальный партнёр» · виджет «Доход от лицензий» · агент «Поиск лицензиата»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Роли в группе: кто какую часть делает</a:t>
            </a:r>
            <a:endParaRPr lang="en-US" sz="3000" dirty="0"/>
          </a:p>
        </p:txBody>
      </p:sp>
      <p:sp>
        <p:nvSpPr>
          <p:cNvPr id="3" name="Владелец решения"/>
          <p:cNvSpPr/>
          <p:nvPr/>
        </p:nvSpPr>
        <p:spPr>
          <a:xfrm>
            <a:off x="548640" y="1371600"/>
            <a:ext cx="2103120" cy="329184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305C">
                <a:alpha val="12000"/>
              </a:srgbClr>
            </a:outerShdw>
          </a:effectLst>
        </p:spPr>
      </p:sp>
      <p:sp>
        <p:nvSpPr>
          <p:cNvPr id="4" name="Владелец решения — круг"/>
          <p:cNvSpPr/>
          <p:nvPr/>
        </p:nvSpPr>
        <p:spPr>
          <a:xfrm>
            <a:off x="1188720" y="1645920"/>
            <a:ext cx="822960" cy="8229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Владелец решения — значок" descr="Владелец решения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6230" y="184343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651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Владелец решения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2918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Проект кейса в «Проектах» через онбординг, сценарий демо, план внедрения</a:t>
            </a:r>
            <a:endParaRPr lang="en-US" sz="1300" dirty="0"/>
          </a:p>
        </p:txBody>
      </p:sp>
      <p:sp>
        <p:nvSpPr>
          <p:cNvPr id="8" name="Аналитик дашборда"/>
          <p:cNvSpPr/>
          <p:nvPr/>
        </p:nvSpPr>
        <p:spPr>
          <a:xfrm>
            <a:off x="2798064" y="1371600"/>
            <a:ext cx="2103120" cy="329184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305C">
                <a:alpha val="12000"/>
              </a:srgbClr>
            </a:outerShdw>
          </a:effectLst>
        </p:spPr>
      </p:sp>
      <p:sp>
        <p:nvSpPr>
          <p:cNvPr id="9" name="Аналитик дашборда — круг"/>
          <p:cNvSpPr/>
          <p:nvPr/>
        </p:nvSpPr>
        <p:spPr>
          <a:xfrm>
            <a:off x="3438144" y="164592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Аналитик дашборда — значок" descr="Аналитик дашборд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654" y="1843430"/>
            <a:ext cx="427939" cy="42793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935224" y="2651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Аналитик дашборда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2935224" y="32918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Плитки KPI и виджеты рабочего стола под показатели кейса</a:t>
            </a:r>
            <a:endParaRPr lang="en-US" sz="1300" dirty="0"/>
          </a:p>
        </p:txBody>
      </p:sp>
      <p:sp>
        <p:nvSpPr>
          <p:cNvPr id="13" name="Архитектор раздела"/>
          <p:cNvSpPr/>
          <p:nvPr/>
        </p:nvSpPr>
        <p:spPr>
          <a:xfrm>
            <a:off x="5047488" y="1371600"/>
            <a:ext cx="2103120" cy="329184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305C">
                <a:alpha val="12000"/>
              </a:srgbClr>
            </a:outerShdw>
          </a:effectLst>
        </p:spPr>
      </p:sp>
      <p:sp>
        <p:nvSpPr>
          <p:cNvPr id="14" name="Архитектор раздела — круг"/>
          <p:cNvSpPr/>
          <p:nvPr/>
        </p:nvSpPr>
        <p:spPr>
          <a:xfrm>
            <a:off x="5687568" y="1645920"/>
            <a:ext cx="822960" cy="82296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5" name="Архитектор раздела — значок" descr="Архитектор раздел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078" y="1843430"/>
            <a:ext cx="427939" cy="42793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184648" y="2651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Архитектор раздела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5184648" y="32918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Новый раздел платформы или новые поля карточки проекта</a:t>
            </a:r>
            <a:endParaRPr lang="en-US" sz="1300" dirty="0"/>
          </a:p>
        </p:txBody>
      </p:sp>
      <p:sp>
        <p:nvSpPr>
          <p:cNvPr id="18" name="Инженер агента"/>
          <p:cNvSpPr/>
          <p:nvPr/>
        </p:nvSpPr>
        <p:spPr>
          <a:xfrm>
            <a:off x="7296912" y="1371600"/>
            <a:ext cx="2103120" cy="329184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305C">
                <a:alpha val="12000"/>
              </a:srgbClr>
            </a:outerShdw>
          </a:effectLst>
        </p:spPr>
      </p:sp>
      <p:sp>
        <p:nvSpPr>
          <p:cNvPr id="19" name="Инженер агента — круг"/>
          <p:cNvSpPr/>
          <p:nvPr/>
        </p:nvSpPr>
        <p:spPr>
          <a:xfrm>
            <a:off x="7936992" y="1645920"/>
            <a:ext cx="822960" cy="8229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0" name="Инженер агента — значок" descr="Инженер агента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4502" y="1843430"/>
            <a:ext cx="427939" cy="427939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34072" y="2651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Инженер агента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434072" y="32918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Агент под кейс и его опора — база знаний или документы</a:t>
            </a:r>
            <a:endParaRPr lang="en-US" sz="1300" dirty="0"/>
          </a:p>
        </p:txBody>
      </p:sp>
      <p:sp>
        <p:nvSpPr>
          <p:cNvPr id="23" name="Модельер полигона"/>
          <p:cNvSpPr/>
          <p:nvPr/>
        </p:nvSpPr>
        <p:spPr>
          <a:xfrm>
            <a:off x="9546336" y="1371600"/>
            <a:ext cx="2103120" cy="329184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305C">
                <a:alpha val="12000"/>
              </a:srgbClr>
            </a:outerShdw>
          </a:effectLst>
        </p:spPr>
      </p:sp>
      <p:sp>
        <p:nvSpPr>
          <p:cNvPr id="24" name="Модельер полигона — круг"/>
          <p:cNvSpPr/>
          <p:nvPr/>
        </p:nvSpPr>
        <p:spPr>
          <a:xfrm>
            <a:off x="10186416" y="164592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Модельер полигона — значок" descr="Модельер полигона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926" y="1843430"/>
            <a:ext cx="427939" cy="427939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683496" y="2651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Модельер полигона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9683496" y="32918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Гипотеза, сценарии, прогон и ИИ-фокус-группа</a:t>
            </a:r>
            <a:endParaRPr lang="en-US" sz="1300" dirty="0"/>
          </a:p>
        </p:txBody>
      </p:sp>
      <p:sp>
        <p:nvSpPr>
          <p:cNvPr id="28" name="Общий трек"/>
          <p:cNvSpPr/>
          <p:nvPr/>
        </p:nvSpPr>
        <p:spPr>
          <a:xfrm>
            <a:off x="548640" y="4937760"/>
            <a:ext cx="11064240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14305C">
                <a:alpha val="12000"/>
              </a:srgbClr>
            </a:outerShdw>
          </a:effectLst>
        </p:spPr>
      </p:sp>
      <p:sp>
        <p:nvSpPr>
          <p:cNvPr id="29" name="Text 22"/>
          <p:cNvSpPr txBox="1"/>
          <p:nvPr/>
        </p:nvSpPr>
        <p:spPr>
          <a:xfrm>
            <a:off x="822960" y="5074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Все роли сначала проходят общий базовый трек: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данные своего вуза, плитка KPI, виджет с графиком. В группе из четырёх человек владелец решения совмещает свою роль с ролью модельера полигона.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Программа: 2 дня × 2 такта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Такт ≈ 2,5 часа: вводная, работа, показ результата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Четыре такта: обзор</a:t>
            </a:r>
            <a:endParaRPr lang="en-US" sz="3000" dirty="0"/>
          </a:p>
        </p:txBody>
      </p:sp>
      <p:sp>
        <p:nvSpPr>
          <p:cNvPr id="3" name="День 1 · Такт 1"/>
          <p:cNvSpPr/>
          <p:nvPr/>
        </p:nvSpPr>
        <p:spPr>
          <a:xfrm>
            <a:off x="548640" y="1325880"/>
            <a:ext cx="544068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305C">
                <a:alpha val="12000"/>
              </a:srgbClr>
            </a:outerShdw>
          </a:effectLst>
        </p:spPr>
      </p:sp>
      <p:sp>
        <p:nvSpPr>
          <p:cNvPr id="4" name="День 1 · Такт 1 — метка"/>
          <p:cNvSpPr/>
          <p:nvPr/>
        </p:nvSpPr>
        <p:spPr>
          <a:xfrm>
            <a:off x="777240" y="1554480"/>
            <a:ext cx="192024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День 1 · Такт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574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Знакомство и настройка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8716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Платформа, инструменты, первый промпт, выбор кейса и ролей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17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Результат: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Всё работает, на дашборде данные своего вуза</a:t>
            </a:r>
            <a:endParaRPr lang="en-US" sz="1300" dirty="0"/>
          </a:p>
        </p:txBody>
      </p:sp>
      <p:sp>
        <p:nvSpPr>
          <p:cNvPr id="9" name="День 1 · Такт 2"/>
          <p:cNvSpPr/>
          <p:nvPr/>
        </p:nvSpPr>
        <p:spPr>
          <a:xfrm>
            <a:off x="6172200" y="1325880"/>
            <a:ext cx="544068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305C">
                <a:alpha val="12000"/>
              </a:srgbClr>
            </a:outerShdw>
          </a:effectLst>
        </p:spPr>
      </p:sp>
      <p:sp>
        <p:nvSpPr>
          <p:cNvPr id="10" name="День 1 · Такт 2 — метка"/>
          <p:cNvSpPr/>
          <p:nvPr/>
        </p:nvSpPr>
        <p:spPr>
          <a:xfrm>
            <a:off x="6400800" y="1554480"/>
            <a:ext cx="1920240" cy="384048"/>
          </a:xfrm>
          <a:prstGeom prst="roundRect">
            <a:avLst>
              <a:gd name="adj" fmla="val 1904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15544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День 1 · Такт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0574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Базовые доработки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48716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Стартовые промпты: плитка KPI, виджет; ТЗ группы на свою доработку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3017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Результат: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Три доработки у каждого и ТЗ группы</a:t>
            </a:r>
            <a:endParaRPr lang="en-US" sz="1300" dirty="0"/>
          </a:p>
        </p:txBody>
      </p:sp>
      <p:sp>
        <p:nvSpPr>
          <p:cNvPr id="15" name="День 2 · Такт 3"/>
          <p:cNvSpPr/>
          <p:nvPr/>
        </p:nvSpPr>
        <p:spPr>
          <a:xfrm>
            <a:off x="548640" y="3703320"/>
            <a:ext cx="544068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305C">
                <a:alpha val="12000"/>
              </a:srgbClr>
            </a:outerShdw>
          </a:effectLst>
        </p:spPr>
      </p:sp>
      <p:sp>
        <p:nvSpPr>
          <p:cNvPr id="16" name="День 2 · Такт 3 — метка"/>
          <p:cNvSpPr/>
          <p:nvPr/>
        </p:nvSpPr>
        <p:spPr>
          <a:xfrm>
            <a:off x="777240" y="3931920"/>
            <a:ext cx="1920240" cy="384048"/>
          </a:xfrm>
          <a:prstGeom prst="roundRect">
            <a:avLst>
              <a:gd name="adj" fmla="val 1904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9319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День 2 · Такт 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434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Своя доработка под кейс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86460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Каждый делает свою часть решения по роли небольшими шагами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5394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Результат: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Готовая часть решения у каждого</a:t>
            </a:r>
            <a:endParaRPr lang="en-US" sz="1300" dirty="0"/>
          </a:p>
        </p:txBody>
      </p:sp>
      <p:sp>
        <p:nvSpPr>
          <p:cNvPr id="21" name="День 2 · Такт 4"/>
          <p:cNvSpPr/>
          <p:nvPr/>
        </p:nvSpPr>
        <p:spPr>
          <a:xfrm>
            <a:off x="6172200" y="3703320"/>
            <a:ext cx="544068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305C">
                <a:alpha val="12000"/>
              </a:srgbClr>
            </a:outerShdw>
          </a:effectLst>
        </p:spPr>
      </p:sp>
      <p:sp>
        <p:nvSpPr>
          <p:cNvPr id="22" name="День 2 · Такт 4 — метка"/>
          <p:cNvSpPr/>
          <p:nvPr/>
        </p:nvSpPr>
        <p:spPr>
          <a:xfrm>
            <a:off x="6400800" y="3931920"/>
            <a:ext cx="1920240" cy="384048"/>
          </a:xfrm>
          <a:prstGeom prst="roundRect">
            <a:avLst>
              <a:gd name="adj" fmla="val 1904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0" y="39319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День 2 · Такт 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4434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Гипотеза и защита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486460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Полигон, ИИ-фокус-группа, сборка демо, защита и план внедрения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5394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Результат: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Защищённое решение и план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День 1 · Такт 1 — знакомство и настройка</a:t>
            </a:r>
            <a:endParaRPr lang="en-US" sz="3000" dirty="0"/>
          </a:p>
        </p:txBody>
      </p:sp>
      <p:sp>
        <p:nvSpPr>
          <p:cNvPr id="3" name="Время: 20"/>
          <p:cNvSpPr/>
          <p:nvPr/>
        </p:nvSpPr>
        <p:spPr>
          <a:xfrm>
            <a:off x="548640" y="1325880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20 мин</a:t>
            </a:r>
            <a:endParaRPr lang="en-US" sz="1400" dirty="0"/>
          </a:p>
        </p:txBody>
      </p:sp>
      <p:sp>
        <p:nvSpPr>
          <p:cNvPr id="5" name="Шаг: Вводная: цель, логика, кейсы и"/>
          <p:cNvSpPr/>
          <p:nvPr/>
        </p:nvSpPr>
        <p:spPr>
          <a:xfrm>
            <a:off x="1691640" y="1325880"/>
            <a:ext cx="56692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74520" y="1325880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Вводная: цель, логика, кейсы и роли</a:t>
            </a:r>
            <a:pPr indent="0" marL="0">
              <a:buNone/>
            </a:pPr>
            <a:r>
              <a:rPr lang="en-US" sz="1300" i="1" dirty="0">
                <a:solidFill>
                  <a:srgbClr val="5A6B82"/>
                </a:solidFill>
              </a:rPr>
              <a:t>  все вместе</a:t>
            </a:r>
            <a:endParaRPr lang="en-US" sz="1300" dirty="0"/>
          </a:p>
        </p:txBody>
      </p:sp>
      <p:sp>
        <p:nvSpPr>
          <p:cNvPr id="7" name="Время: 40"/>
          <p:cNvSpPr/>
          <p:nvPr/>
        </p:nvSpPr>
        <p:spPr>
          <a:xfrm>
            <a:off x="548640" y="1965960"/>
            <a:ext cx="1051560" cy="1194816"/>
          </a:xfrm>
          <a:prstGeom prst="roundRect">
            <a:avLst>
              <a:gd name="adj" fmla="val 6957"/>
            </a:avLst>
          </a:prstGeom>
          <a:solidFill>
            <a:srgbClr val="0F7C8C"/>
          </a:solidFill>
          <a:ln w="12700">
            <a:solidFill>
              <a:srgbClr val="0F7C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965960"/>
            <a:ext cx="1051560" cy="1194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40 мин</a:t>
            </a:r>
            <a:endParaRPr lang="en-US" sz="1400" dirty="0"/>
          </a:p>
        </p:txBody>
      </p:sp>
      <p:sp>
        <p:nvSpPr>
          <p:cNvPr id="9" name="Шаг: Настройка: запуск платформы, V"/>
          <p:cNvSpPr/>
          <p:nvPr/>
        </p:nvSpPr>
        <p:spPr>
          <a:xfrm>
            <a:off x="1691640" y="1965960"/>
            <a:ext cx="5669280" cy="1194816"/>
          </a:xfrm>
          <a:prstGeom prst="roundRect">
            <a:avLst>
              <a:gd name="adj" fmla="val 61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74520" y="1965960"/>
            <a:ext cx="5349240" cy="1194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Настройка: запуск платформы, VS Code + Cline, ключ, сохранение исходной версии</a:t>
            </a:r>
            <a:pPr indent="0" marL="0">
              <a:buNone/>
            </a:pPr>
            <a:r>
              <a:rPr lang="en-US" sz="1300" i="1" dirty="0">
                <a:solidFill>
                  <a:srgbClr val="5A6B82"/>
                </a:solidFill>
              </a:rPr>
              <a:t>  индивидуально, с дежурными</a:t>
            </a:r>
            <a:endParaRPr lang="en-US" sz="1300" dirty="0"/>
          </a:p>
        </p:txBody>
      </p:sp>
      <p:sp>
        <p:nvSpPr>
          <p:cNvPr id="11" name="Время: 40"/>
          <p:cNvSpPr/>
          <p:nvPr/>
        </p:nvSpPr>
        <p:spPr>
          <a:xfrm>
            <a:off x="548640" y="3233928"/>
            <a:ext cx="1051560" cy="1194816"/>
          </a:xfrm>
          <a:prstGeom prst="roundRect">
            <a:avLst>
              <a:gd name="adj" fmla="val 6957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233928"/>
            <a:ext cx="1051560" cy="1194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40 мин</a:t>
            </a:r>
            <a:endParaRPr lang="en-US" sz="1400" dirty="0"/>
          </a:p>
        </p:txBody>
      </p:sp>
      <p:sp>
        <p:nvSpPr>
          <p:cNvPr id="13" name="Шаг: Экскурсия по платформе: рабочи"/>
          <p:cNvSpPr/>
          <p:nvPr/>
        </p:nvSpPr>
        <p:spPr>
          <a:xfrm>
            <a:off x="1691640" y="3233928"/>
            <a:ext cx="5669280" cy="1194816"/>
          </a:xfrm>
          <a:prstGeom prst="roundRect">
            <a:avLst>
              <a:gd name="adj" fmla="val 61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874520" y="3233928"/>
            <a:ext cx="5349240" cy="1194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Экскурсия по платформе: рабочий стол, знания, агенты, модели, полигоны; онбординг проекта</a:t>
            </a:r>
            <a:pPr indent="0" marL="0">
              <a:buNone/>
            </a:pPr>
            <a:r>
              <a:rPr lang="en-US" sz="1300" i="1" dirty="0">
                <a:solidFill>
                  <a:srgbClr val="5A6B82"/>
                </a:solidFill>
              </a:rPr>
              <a:t>  индивидуально по маршруту</a:t>
            </a:r>
            <a:endParaRPr lang="en-US" sz="1300" dirty="0"/>
          </a:p>
        </p:txBody>
      </p:sp>
      <p:sp>
        <p:nvSpPr>
          <p:cNvPr id="15" name="Время: 30"/>
          <p:cNvSpPr/>
          <p:nvPr/>
        </p:nvSpPr>
        <p:spPr>
          <a:xfrm>
            <a:off x="548640" y="4501896"/>
            <a:ext cx="1051560" cy="877824"/>
          </a:xfrm>
          <a:prstGeom prst="roundRect">
            <a:avLst>
              <a:gd name="adj" fmla="val 8333"/>
            </a:avLst>
          </a:prstGeom>
          <a:solidFill>
            <a:srgbClr val="2E9D5B"/>
          </a:solidFill>
          <a:ln w="12700">
            <a:solidFill>
              <a:srgbClr val="2E9D5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501896"/>
            <a:ext cx="1051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30 мин</a:t>
            </a:r>
            <a:endParaRPr lang="en-US" sz="1400" dirty="0"/>
          </a:p>
        </p:txBody>
      </p:sp>
      <p:sp>
        <p:nvSpPr>
          <p:cNvPr id="17" name="Шаг: Первые промпты: «объясни платф"/>
          <p:cNvSpPr/>
          <p:nvPr/>
        </p:nvSpPr>
        <p:spPr>
          <a:xfrm>
            <a:off x="1691640" y="4501896"/>
            <a:ext cx="5669280" cy="877824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874520" y="4501896"/>
            <a:ext cx="5349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Первые промпты: «объясни платформу», затем задача 1 — данные своего вуза</a:t>
            </a:r>
            <a:pPr indent="0" marL="0">
              <a:buNone/>
            </a:pPr>
            <a:r>
              <a:rPr lang="en-US" sz="1300" i="1" dirty="0">
                <a:solidFill>
                  <a:srgbClr val="5A6B82"/>
                </a:solidFill>
              </a:rPr>
              <a:t>  индивидуально</a:t>
            </a:r>
            <a:endParaRPr lang="en-US" sz="1300" dirty="0"/>
          </a:p>
        </p:txBody>
      </p:sp>
      <p:sp>
        <p:nvSpPr>
          <p:cNvPr id="19" name="Время: 20"/>
          <p:cNvSpPr/>
          <p:nvPr/>
        </p:nvSpPr>
        <p:spPr>
          <a:xfrm>
            <a:off x="548640" y="5452872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E39B2D"/>
          </a:solidFill>
          <a:ln w="12700">
            <a:solidFill>
              <a:srgbClr val="E39B2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4528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20 мин</a:t>
            </a:r>
            <a:endParaRPr lang="en-US" sz="1400" dirty="0"/>
          </a:p>
        </p:txBody>
      </p:sp>
      <p:sp>
        <p:nvSpPr>
          <p:cNvPr id="21" name="Шаг: Группы: выбор кейса и распреде"/>
          <p:cNvSpPr/>
          <p:nvPr/>
        </p:nvSpPr>
        <p:spPr>
          <a:xfrm>
            <a:off x="1691640" y="5452872"/>
            <a:ext cx="56692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874520" y="5452872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Группы: выбор кейса и распределение ролей</a:t>
            </a:r>
            <a:pPr indent="0" marL="0">
              <a:buNone/>
            </a:pPr>
            <a:r>
              <a:rPr lang="en-US" sz="1300" i="1" dirty="0">
                <a:solidFill>
                  <a:srgbClr val="5A6B82"/>
                </a:solidFill>
              </a:rPr>
              <a:t>  в группах</a:t>
            </a:r>
            <a:endParaRPr lang="en-US" sz="1300" dirty="0"/>
          </a:p>
        </p:txBody>
      </p:sp>
      <p:sp>
        <p:nvSpPr>
          <p:cNvPr id="23" name="Результат такта"/>
          <p:cNvSpPr/>
          <p:nvPr/>
        </p:nvSpPr>
        <p:spPr>
          <a:xfrm>
            <a:off x="7680960" y="1325880"/>
            <a:ext cx="3931920" cy="246888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14305C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790956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Результат такта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7909560" y="1920240"/>
            <a:ext cx="3520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Чек-лист «Готов к работе» — 7 из 7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Название и проекты своего вуза на дашборде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Кейс и роли группы зафиксированы</a:t>
            </a:r>
            <a:endParaRPr lang="en-US" sz="1300" dirty="0"/>
          </a:p>
        </p:txBody>
      </p:sp>
      <p:sp>
        <p:nvSpPr>
          <p:cNvPr id="26" name="Контроль"/>
          <p:cNvSpPr/>
          <p:nvPr/>
        </p:nvSpPr>
        <p:spPr>
          <a:xfrm>
            <a:off x="7680960" y="3977640"/>
            <a:ext cx="39319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305C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7909560" y="4160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Контроль ведущего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7909560" y="4572000"/>
            <a:ext cx="3520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Обход по чек-листу через 60 минут. Кто не прошёл настройку — к дежурному, остальные идут на экскурсию.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День 1 · Такт 2 — базовые доработки</a:t>
            </a:r>
            <a:endParaRPr lang="en-US" sz="3000" dirty="0"/>
          </a:p>
        </p:txBody>
      </p:sp>
      <p:sp>
        <p:nvSpPr>
          <p:cNvPr id="3" name="Время: 15"/>
          <p:cNvSpPr/>
          <p:nvPr/>
        </p:nvSpPr>
        <p:spPr>
          <a:xfrm>
            <a:off x="548640" y="1325880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15 мин</a:t>
            </a:r>
            <a:endParaRPr lang="en-US" sz="1400" dirty="0"/>
          </a:p>
        </p:txBody>
      </p:sp>
      <p:sp>
        <p:nvSpPr>
          <p:cNvPr id="5" name="Шаг: Разбор такта 1: типичные ошибк"/>
          <p:cNvSpPr/>
          <p:nvPr/>
        </p:nvSpPr>
        <p:spPr>
          <a:xfrm>
            <a:off x="1691640" y="1325880"/>
            <a:ext cx="56692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74520" y="1325880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Разбор такта 1: типичные ошибки и правило «одна задача — один промпт»</a:t>
            </a:r>
            <a:pPr indent="0" marL="0">
              <a:buNone/>
            </a:pPr>
            <a:r>
              <a:rPr lang="en-US" sz="1300" i="1" dirty="0">
                <a:solidFill>
                  <a:srgbClr val="5A6B82"/>
                </a:solidFill>
              </a:rPr>
              <a:t>  все вместе</a:t>
            </a:r>
            <a:endParaRPr lang="en-US" sz="1300" dirty="0"/>
          </a:p>
        </p:txBody>
      </p:sp>
      <p:sp>
        <p:nvSpPr>
          <p:cNvPr id="7" name="Время: 60"/>
          <p:cNvSpPr/>
          <p:nvPr/>
        </p:nvSpPr>
        <p:spPr>
          <a:xfrm>
            <a:off x="548640" y="1965960"/>
            <a:ext cx="1051560" cy="1828800"/>
          </a:xfrm>
          <a:prstGeom prst="roundRect">
            <a:avLst>
              <a:gd name="adj" fmla="val 6957"/>
            </a:avLst>
          </a:prstGeom>
          <a:solidFill>
            <a:srgbClr val="2E9D5B"/>
          </a:solidFill>
          <a:ln w="12700">
            <a:solidFill>
              <a:srgbClr val="2E9D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965960"/>
            <a:ext cx="1051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60 мин</a:t>
            </a:r>
            <a:endParaRPr lang="en-US" sz="1400" dirty="0"/>
          </a:p>
        </p:txBody>
      </p:sp>
      <p:sp>
        <p:nvSpPr>
          <p:cNvPr id="9" name="Шаг: Стартовые промпты 2 и 3: плитк"/>
          <p:cNvSpPr/>
          <p:nvPr/>
        </p:nvSpPr>
        <p:spPr>
          <a:xfrm>
            <a:off x="1691640" y="1965960"/>
            <a:ext cx="566928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74520" y="1965960"/>
            <a:ext cx="5349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Стартовые промпты 2 и 3: плитка KPI и виджет «Доход от лицензий»</a:t>
            </a:r>
            <a:pPr indent="0" marL="0">
              <a:buNone/>
            </a:pPr>
            <a:r>
              <a:rPr lang="en-US" sz="1300" i="1" dirty="0">
                <a:solidFill>
                  <a:srgbClr val="5A6B82"/>
                </a:solidFill>
              </a:rPr>
              <a:t>  индивидуально</a:t>
            </a:r>
            <a:endParaRPr lang="en-US" sz="1300" dirty="0"/>
          </a:p>
        </p:txBody>
      </p:sp>
      <p:sp>
        <p:nvSpPr>
          <p:cNvPr id="11" name="Время: 30"/>
          <p:cNvSpPr/>
          <p:nvPr/>
        </p:nvSpPr>
        <p:spPr>
          <a:xfrm>
            <a:off x="548640" y="3867912"/>
            <a:ext cx="1051560" cy="877824"/>
          </a:xfrm>
          <a:prstGeom prst="roundRect">
            <a:avLst>
              <a:gd name="adj" fmla="val 8333"/>
            </a:avLst>
          </a:prstGeom>
          <a:solidFill>
            <a:srgbClr val="2E9D5B"/>
          </a:solidFill>
          <a:ln w="12700">
            <a:solidFill>
              <a:srgbClr val="2E9D5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867912"/>
            <a:ext cx="1051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30 мин</a:t>
            </a:r>
            <a:endParaRPr lang="en-US" sz="1400" dirty="0"/>
          </a:p>
        </p:txBody>
      </p:sp>
      <p:sp>
        <p:nvSpPr>
          <p:cNvPr id="13" name="Шаг: Стартовый промпт по своей роли"/>
          <p:cNvSpPr/>
          <p:nvPr/>
        </p:nvSpPr>
        <p:spPr>
          <a:xfrm>
            <a:off x="1691640" y="3867912"/>
            <a:ext cx="5669280" cy="877824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874520" y="3867912"/>
            <a:ext cx="5349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Стартовый промпт по своей роли (задачи 4–8 памятки)</a:t>
            </a:r>
            <a:pPr indent="0" marL="0">
              <a:buNone/>
            </a:pPr>
            <a:r>
              <a:rPr lang="en-US" sz="1300" i="1" dirty="0">
                <a:solidFill>
                  <a:srgbClr val="5A6B82"/>
                </a:solidFill>
              </a:rPr>
              <a:t>  индивидуально</a:t>
            </a:r>
            <a:endParaRPr lang="en-US" sz="1300" dirty="0"/>
          </a:p>
        </p:txBody>
      </p:sp>
      <p:sp>
        <p:nvSpPr>
          <p:cNvPr id="15" name="Время: 30"/>
          <p:cNvSpPr/>
          <p:nvPr/>
        </p:nvSpPr>
        <p:spPr>
          <a:xfrm>
            <a:off x="548640" y="4818888"/>
            <a:ext cx="1051560" cy="877824"/>
          </a:xfrm>
          <a:prstGeom prst="roundRect">
            <a:avLst>
              <a:gd name="adj" fmla="val 8333"/>
            </a:avLst>
          </a:prstGeom>
          <a:solidFill>
            <a:srgbClr val="E39B2D"/>
          </a:solidFill>
          <a:ln w="12700">
            <a:solidFill>
              <a:srgbClr val="E39B2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818888"/>
            <a:ext cx="1051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30 мин</a:t>
            </a:r>
            <a:endParaRPr lang="en-US" sz="1400" dirty="0"/>
          </a:p>
        </p:txBody>
      </p:sp>
      <p:sp>
        <p:nvSpPr>
          <p:cNvPr id="17" name="Шаг: ТЗ группы по схеме «что — где "/>
          <p:cNvSpPr/>
          <p:nvPr/>
        </p:nvSpPr>
        <p:spPr>
          <a:xfrm>
            <a:off x="1691640" y="4818888"/>
            <a:ext cx="5669280" cy="877824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874520" y="4818888"/>
            <a:ext cx="5349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ТЗ группы по схеме «что — где — данные — как» и гипотеза для полигона</a:t>
            </a:r>
            <a:pPr indent="0" marL="0">
              <a:buNone/>
            </a:pPr>
            <a:r>
              <a:rPr lang="en-US" sz="1300" i="1" dirty="0">
                <a:solidFill>
                  <a:srgbClr val="5A6B82"/>
                </a:solidFill>
              </a:rPr>
              <a:t>  в группах</a:t>
            </a:r>
            <a:endParaRPr lang="en-US" sz="1300" dirty="0"/>
          </a:p>
        </p:txBody>
      </p:sp>
      <p:sp>
        <p:nvSpPr>
          <p:cNvPr id="19" name="Время: 15"/>
          <p:cNvSpPr/>
          <p:nvPr/>
        </p:nvSpPr>
        <p:spPr>
          <a:xfrm>
            <a:off x="548640" y="5769864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0F7C8C"/>
          </a:solidFill>
          <a:ln w="12700">
            <a:solidFill>
              <a:srgbClr val="0F7C8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769864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15 мин</a:t>
            </a:r>
            <a:endParaRPr lang="en-US" sz="1400" dirty="0"/>
          </a:p>
        </p:txBody>
      </p:sp>
      <p:sp>
        <p:nvSpPr>
          <p:cNvPr id="21" name="Шаг: Стендап: каждый показывает экр"/>
          <p:cNvSpPr/>
          <p:nvPr/>
        </p:nvSpPr>
        <p:spPr>
          <a:xfrm>
            <a:off x="1691640" y="5769864"/>
            <a:ext cx="56692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874520" y="5769864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Стендап: каждый показывает экран, ведущий фиксирует проблемы</a:t>
            </a:r>
            <a:pPr indent="0" marL="0">
              <a:buNone/>
            </a:pPr>
            <a:r>
              <a:rPr lang="en-US" sz="1300" i="1" dirty="0">
                <a:solidFill>
                  <a:srgbClr val="5A6B82"/>
                </a:solidFill>
              </a:rPr>
              <a:t>  в группах</a:t>
            </a:r>
            <a:endParaRPr lang="en-US" sz="1300" dirty="0"/>
          </a:p>
        </p:txBody>
      </p:sp>
      <p:sp>
        <p:nvSpPr>
          <p:cNvPr id="23" name="Результат такта"/>
          <p:cNvSpPr/>
          <p:nvPr/>
        </p:nvSpPr>
        <p:spPr>
          <a:xfrm>
            <a:off x="7680960" y="1325880"/>
            <a:ext cx="3931920" cy="246888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14305C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790956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Результат такта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7909560" y="1920240"/>
            <a:ext cx="3520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Не меньше трёх доработок у каждого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Версия сохранена в git после каждого шага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ТЗ группы и формулировка гипотезы</a:t>
            </a:r>
            <a:endParaRPr lang="en-US" sz="1300" dirty="0"/>
          </a:p>
        </p:txBody>
      </p:sp>
      <p:sp>
        <p:nvSpPr>
          <p:cNvPr id="26" name="Контроль"/>
          <p:cNvSpPr/>
          <p:nvPr/>
        </p:nvSpPr>
        <p:spPr>
          <a:xfrm>
            <a:off x="7680960" y="3977640"/>
            <a:ext cx="39319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305C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7909560" y="4160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Контроль ведущего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7909560" y="4572000"/>
            <a:ext cx="3520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Проверка экранов на стендапе. Застрявшим — откат и повтор задачи меньшим шагом; при необходимости объединить в пару.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День 2 · Такт 3 — своя доработка под кейс</a:t>
            </a:r>
            <a:endParaRPr lang="en-US" sz="3000" dirty="0"/>
          </a:p>
        </p:txBody>
      </p:sp>
      <p:sp>
        <p:nvSpPr>
          <p:cNvPr id="3" name="Время: 15"/>
          <p:cNvSpPr/>
          <p:nvPr/>
        </p:nvSpPr>
        <p:spPr>
          <a:xfrm>
            <a:off x="548640" y="1325880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15 мин</a:t>
            </a:r>
            <a:endParaRPr lang="en-US" sz="1400" dirty="0"/>
          </a:p>
        </p:txBody>
      </p:sp>
      <p:sp>
        <p:nvSpPr>
          <p:cNvPr id="5" name="Шаг: Разминка: план с Cline — «пред"/>
          <p:cNvSpPr/>
          <p:nvPr/>
        </p:nvSpPr>
        <p:spPr>
          <a:xfrm>
            <a:off x="1691640" y="1325880"/>
            <a:ext cx="56692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74520" y="1325880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Разминка: план с Cline — «предложи план из небольших шагов, ничего не меняй»</a:t>
            </a:r>
            <a:pPr indent="0" marL="0">
              <a:buNone/>
            </a:pPr>
            <a:r>
              <a:rPr lang="en-US" sz="1300" i="1" dirty="0">
                <a:solidFill>
                  <a:srgbClr val="5A6B82"/>
                </a:solidFill>
              </a:rPr>
              <a:t>  индивидуально</a:t>
            </a:r>
            <a:endParaRPr lang="en-US" sz="1300" dirty="0"/>
          </a:p>
        </p:txBody>
      </p:sp>
      <p:sp>
        <p:nvSpPr>
          <p:cNvPr id="7" name="Время: 100"/>
          <p:cNvSpPr/>
          <p:nvPr/>
        </p:nvSpPr>
        <p:spPr>
          <a:xfrm>
            <a:off x="548640" y="1965960"/>
            <a:ext cx="1051560" cy="3096768"/>
          </a:xfrm>
          <a:prstGeom prst="roundRect">
            <a:avLst>
              <a:gd name="adj" fmla="val 6957"/>
            </a:avLst>
          </a:prstGeom>
          <a:solidFill>
            <a:srgbClr val="2E9D5B"/>
          </a:solidFill>
          <a:ln w="12700">
            <a:solidFill>
              <a:srgbClr val="2E9D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965960"/>
            <a:ext cx="1051560" cy="3096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100 мин</a:t>
            </a:r>
            <a:endParaRPr lang="en-US" sz="1400" dirty="0"/>
          </a:p>
        </p:txBody>
      </p:sp>
      <p:sp>
        <p:nvSpPr>
          <p:cNvPr id="9" name="Шаг: Реализация своей части решения"/>
          <p:cNvSpPr/>
          <p:nvPr/>
        </p:nvSpPr>
        <p:spPr>
          <a:xfrm>
            <a:off x="1691640" y="1965960"/>
            <a:ext cx="5669280" cy="3096768"/>
          </a:xfrm>
          <a:prstGeom prst="roundRect">
            <a:avLst>
              <a:gd name="adj" fmla="val 23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74520" y="1965960"/>
            <a:ext cx="5349240" cy="3096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Реализация своей части решения по роли, небольшими шагами с сохранением версий</a:t>
            </a:r>
            <a:pPr indent="0" marL="0">
              <a:buNone/>
            </a:pPr>
            <a:r>
              <a:rPr lang="en-US" sz="1300" i="1" dirty="0">
                <a:solidFill>
                  <a:srgbClr val="5A6B82"/>
                </a:solidFill>
              </a:rPr>
              <a:t>  индивидуально, ведущий на обходе</a:t>
            </a:r>
            <a:endParaRPr lang="en-US" sz="1300" dirty="0"/>
          </a:p>
        </p:txBody>
      </p:sp>
      <p:sp>
        <p:nvSpPr>
          <p:cNvPr id="11" name="Время: 35"/>
          <p:cNvSpPr/>
          <p:nvPr/>
        </p:nvSpPr>
        <p:spPr>
          <a:xfrm>
            <a:off x="548640" y="5135880"/>
            <a:ext cx="1051560" cy="1036320"/>
          </a:xfrm>
          <a:prstGeom prst="roundRect">
            <a:avLst>
              <a:gd name="adj" fmla="val 7059"/>
            </a:avLst>
          </a:prstGeom>
          <a:solidFill>
            <a:srgbClr val="E39B2D"/>
          </a:solidFill>
          <a:ln w="12700">
            <a:solidFill>
              <a:srgbClr val="E39B2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5135880"/>
            <a:ext cx="105156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35 мин</a:t>
            </a:r>
            <a:endParaRPr lang="en-US" sz="1400" dirty="0"/>
          </a:p>
        </p:txBody>
      </p:sp>
      <p:sp>
        <p:nvSpPr>
          <p:cNvPr id="13" name="Шаг: Взаимная проверка в группе: об"/>
          <p:cNvSpPr/>
          <p:nvPr/>
        </p:nvSpPr>
        <p:spPr>
          <a:xfrm>
            <a:off x="1691640" y="5135880"/>
            <a:ext cx="5669280" cy="103632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874520" y="5135880"/>
            <a:ext cx="534924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Взаимная проверка в группе: обмен ноутбуками, список замечаний и исправления</a:t>
            </a:r>
            <a:pPr indent="0" marL="0">
              <a:buNone/>
            </a:pPr>
            <a:r>
              <a:rPr lang="en-US" sz="1300" i="1" dirty="0">
                <a:solidFill>
                  <a:srgbClr val="5A6B82"/>
                </a:solidFill>
              </a:rPr>
              <a:t>  в группах</a:t>
            </a:r>
            <a:endParaRPr lang="en-US" sz="1300" dirty="0"/>
          </a:p>
        </p:txBody>
      </p:sp>
      <p:sp>
        <p:nvSpPr>
          <p:cNvPr id="15" name="Результат такта"/>
          <p:cNvSpPr/>
          <p:nvPr/>
        </p:nvSpPr>
        <p:spPr>
          <a:xfrm>
            <a:off x="7680960" y="1325880"/>
            <a:ext cx="3931920" cy="246888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14305C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90956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Результат такта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909560" y="1920240"/>
            <a:ext cx="3520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Часть решения работает на ноутбуке каждого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Замечания группы исправлены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Лог ключевых промптов для защиты</a:t>
            </a:r>
            <a:endParaRPr lang="en-US" sz="1300" dirty="0"/>
          </a:p>
        </p:txBody>
      </p:sp>
      <p:sp>
        <p:nvSpPr>
          <p:cNvPr id="18" name="Контроль"/>
          <p:cNvSpPr/>
          <p:nvPr/>
        </p:nvSpPr>
        <p:spPr>
          <a:xfrm>
            <a:off x="7680960" y="3977640"/>
            <a:ext cx="39319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305C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909560" y="4160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Контроль ведущего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7909560" y="4572000"/>
            <a:ext cx="3520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Контрольная точка в середине такта: у каждого виден первый результат. Если нет — задачу сокращаем до минимально полезной версии.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День 2 · Такт 4 — гипотеза и защита</a:t>
            </a:r>
            <a:endParaRPr lang="en-US" sz="3000" dirty="0"/>
          </a:p>
        </p:txBody>
      </p:sp>
      <p:sp>
        <p:nvSpPr>
          <p:cNvPr id="3" name="Время: 45"/>
          <p:cNvSpPr/>
          <p:nvPr/>
        </p:nvSpPr>
        <p:spPr>
          <a:xfrm>
            <a:off x="548640" y="1325880"/>
            <a:ext cx="1051560" cy="1353312"/>
          </a:xfrm>
          <a:prstGeom prst="roundRect">
            <a:avLst>
              <a:gd name="adj" fmla="val 6957"/>
            </a:avLst>
          </a:prstGeom>
          <a:solidFill>
            <a:srgbClr val="2E9D5B"/>
          </a:solidFill>
          <a:ln w="12700">
            <a:solidFill>
              <a:srgbClr val="2E9D5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105156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45 мин</a:t>
            </a:r>
            <a:endParaRPr lang="en-US" sz="1400" dirty="0"/>
          </a:p>
        </p:txBody>
      </p:sp>
      <p:sp>
        <p:nvSpPr>
          <p:cNvPr id="5" name="Шаг: Полигон: гипотеза группы, сцен"/>
          <p:cNvSpPr/>
          <p:nvPr/>
        </p:nvSpPr>
        <p:spPr>
          <a:xfrm>
            <a:off x="1691640" y="1325880"/>
            <a:ext cx="5669280" cy="1353312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74520" y="1325880"/>
            <a:ext cx="53492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Полигон: гипотеза группы, сценарии, прогон и ИИ-фокус-группа</a:t>
            </a:r>
            <a:pPr indent="0" marL="0">
              <a:buNone/>
            </a:pPr>
            <a:r>
              <a:rPr lang="en-US" sz="1300" i="1" dirty="0">
                <a:solidFill>
                  <a:srgbClr val="5A6B82"/>
                </a:solidFill>
              </a:rPr>
              <a:t>  в группах, ведёт модельер</a:t>
            </a:r>
            <a:endParaRPr lang="en-US" sz="1300" dirty="0"/>
          </a:p>
        </p:txBody>
      </p:sp>
      <p:sp>
        <p:nvSpPr>
          <p:cNvPr id="7" name="Время: 30"/>
          <p:cNvSpPr/>
          <p:nvPr/>
        </p:nvSpPr>
        <p:spPr>
          <a:xfrm>
            <a:off x="548640" y="2752344"/>
            <a:ext cx="1051560" cy="877824"/>
          </a:xfrm>
          <a:prstGeom prst="roundRect">
            <a:avLst>
              <a:gd name="adj" fmla="val 8333"/>
            </a:avLst>
          </a:prstGeom>
          <a:solidFill>
            <a:srgbClr val="E39B2D"/>
          </a:solidFill>
          <a:ln w="12700">
            <a:solidFill>
              <a:srgbClr val="E39B2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52344"/>
            <a:ext cx="1051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30 мин</a:t>
            </a:r>
            <a:endParaRPr lang="en-US" sz="1400" dirty="0"/>
          </a:p>
        </p:txBody>
      </p:sp>
      <p:sp>
        <p:nvSpPr>
          <p:cNvPr id="9" name="Шаг: Сборка демо на 5 минут: кейс →"/>
          <p:cNvSpPr/>
          <p:nvPr/>
        </p:nvSpPr>
        <p:spPr>
          <a:xfrm>
            <a:off x="1691640" y="2752344"/>
            <a:ext cx="5669280" cy="877824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74520" y="2752344"/>
            <a:ext cx="5349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Сборка демо на 5 минут: кейс → доработки → результат полигона → план</a:t>
            </a:r>
            <a:pPr indent="0" marL="0">
              <a:buNone/>
            </a:pPr>
            <a:r>
              <a:rPr lang="en-US" sz="1300" i="1" dirty="0">
                <a:solidFill>
                  <a:srgbClr val="5A6B82"/>
                </a:solidFill>
              </a:rPr>
              <a:t>  в группах</a:t>
            </a:r>
            <a:endParaRPr lang="en-US" sz="1300" dirty="0"/>
          </a:p>
        </p:txBody>
      </p:sp>
      <p:sp>
        <p:nvSpPr>
          <p:cNvPr id="11" name="Время: 60"/>
          <p:cNvSpPr/>
          <p:nvPr/>
        </p:nvSpPr>
        <p:spPr>
          <a:xfrm>
            <a:off x="548640" y="3703320"/>
            <a:ext cx="1051560" cy="1828800"/>
          </a:xfrm>
          <a:prstGeom prst="roundRect">
            <a:avLst>
              <a:gd name="adj" fmla="val 6957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703320"/>
            <a:ext cx="1051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60 мин</a:t>
            </a:r>
            <a:endParaRPr lang="en-US" sz="1400" dirty="0"/>
          </a:p>
        </p:txBody>
      </p:sp>
      <p:sp>
        <p:nvSpPr>
          <p:cNvPr id="13" name="Шаг: Защита групп: 5 минут демо + 3"/>
          <p:cNvSpPr/>
          <p:nvPr/>
        </p:nvSpPr>
        <p:spPr>
          <a:xfrm>
            <a:off x="1691640" y="3703320"/>
            <a:ext cx="566928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874520" y="3703320"/>
            <a:ext cx="5349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Защита групп: 5 минут демо + 3 минуты вопросов</a:t>
            </a:r>
            <a:pPr indent="0" marL="0">
              <a:buNone/>
            </a:pPr>
            <a:r>
              <a:rPr lang="en-US" sz="1300" i="1" dirty="0">
                <a:solidFill>
                  <a:srgbClr val="5A6B82"/>
                </a:solidFill>
              </a:rPr>
              <a:t>  все вместе</a:t>
            </a:r>
            <a:endParaRPr lang="en-US" sz="1300" dirty="0"/>
          </a:p>
        </p:txBody>
      </p:sp>
      <p:sp>
        <p:nvSpPr>
          <p:cNvPr id="15" name="Время: 15"/>
          <p:cNvSpPr/>
          <p:nvPr/>
        </p:nvSpPr>
        <p:spPr>
          <a:xfrm>
            <a:off x="548640" y="5605272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0F7C8C"/>
          </a:solidFill>
          <a:ln w="12700">
            <a:solidFill>
              <a:srgbClr val="0F7C8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6052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15 мин</a:t>
            </a:r>
            <a:endParaRPr lang="en-US" sz="1400" dirty="0"/>
          </a:p>
        </p:txBody>
      </p:sp>
      <p:sp>
        <p:nvSpPr>
          <p:cNvPr id="17" name="Шаг: Рефлексия и план внедрения в с"/>
          <p:cNvSpPr/>
          <p:nvPr/>
        </p:nvSpPr>
        <p:spPr>
          <a:xfrm>
            <a:off x="1691640" y="5605272"/>
            <a:ext cx="56692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874520" y="5605272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Рефлексия и план внедрения в своём вузе</a:t>
            </a:r>
            <a:pPr indent="0" marL="0">
              <a:buNone/>
            </a:pPr>
            <a:r>
              <a:rPr lang="en-US" sz="1300" i="1" dirty="0">
                <a:solidFill>
                  <a:srgbClr val="5A6B82"/>
                </a:solidFill>
              </a:rPr>
              <a:t>  индивидуально</a:t>
            </a:r>
            <a:endParaRPr lang="en-US" sz="1300" dirty="0"/>
          </a:p>
        </p:txBody>
      </p:sp>
      <p:sp>
        <p:nvSpPr>
          <p:cNvPr id="19" name="Результат такта"/>
          <p:cNvSpPr/>
          <p:nvPr/>
        </p:nvSpPr>
        <p:spPr>
          <a:xfrm>
            <a:off x="7680960" y="1325880"/>
            <a:ext cx="3931920" cy="246888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14305C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90956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Результат такта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7909560" y="1920240"/>
            <a:ext cx="3520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Доля прогонов, где гипотеза подтверждается, и её объяснение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Защита решения группы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Личный план: что забрать в свой вуз</a:t>
            </a:r>
            <a:endParaRPr lang="en-US" sz="1300" dirty="0"/>
          </a:p>
        </p:txBody>
      </p:sp>
      <p:sp>
        <p:nvSpPr>
          <p:cNvPr id="22" name="Контроль"/>
          <p:cNvSpPr/>
          <p:nvPr/>
        </p:nvSpPr>
        <p:spPr>
          <a:xfrm>
            <a:off x="7680960" y="3977640"/>
            <a:ext cx="39319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305C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909560" y="4160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Контроль ведущего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7909560" y="4572000"/>
            <a:ext cx="3520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Хронометраж защиты. Оценка по критериям (следующий слайд), обратная связь эксперта каждой группе.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Результаты и критерии оценки</a:t>
            </a:r>
            <a:endParaRPr lang="en-US" sz="3000" dirty="0"/>
          </a:p>
        </p:txBody>
      </p:sp>
      <p:sp>
        <p:nvSpPr>
          <p:cNvPr id="3" name="Артефакты"/>
          <p:cNvSpPr/>
          <p:nvPr/>
        </p:nvSpPr>
        <p:spPr>
          <a:xfrm>
            <a:off x="548640" y="1325880"/>
            <a:ext cx="4937760" cy="4754880"/>
          </a:xfrm>
          <a:prstGeom prst="roundRect">
            <a:avLst>
              <a:gd name="adj" fmla="val 23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305C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Что остаётся у участника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57400"/>
            <a:ext cx="4434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Индивидуально: </a:t>
            </a:r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своя версия платформы с данными вуза и 3+ доработками, лог промптов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Группа: </a:t>
            </a:r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проект кейса в «Проектах», полигон с результатами и мнениями фокус-группы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Для вуза: </a:t>
            </a:r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план внедрения — какие данные подключить, кто поддерживает, что развернуть на сервере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137160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Критерии защиты группы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Работает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2240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82"/>
                </a:solidFill>
              </a:rPr>
              <a:t>демо без сбоев на ноутбуках участников</a:t>
            </a:r>
            <a:endParaRPr lang="en-US" sz="1200" dirty="0"/>
          </a:p>
        </p:txBody>
      </p:sp>
      <p:sp>
        <p:nvSpPr>
          <p:cNvPr id="9" name="Работает — шкала"/>
          <p:cNvSpPr/>
          <p:nvPr/>
        </p:nvSpPr>
        <p:spPr>
          <a:xfrm>
            <a:off x="9235440" y="2029968"/>
            <a:ext cx="1828800" cy="292608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Работает — вес"/>
          <p:cNvSpPr/>
          <p:nvPr/>
        </p:nvSpPr>
        <p:spPr>
          <a:xfrm>
            <a:off x="9235440" y="2029968"/>
            <a:ext cx="1828800" cy="292608"/>
          </a:xfrm>
          <a:prstGeom prst="roundRect">
            <a:avLst>
              <a:gd name="adj" fmla="val 1875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155680" y="19659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25%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2743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Польза для проректора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852160" y="3063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82"/>
                </a:solidFill>
              </a:rPr>
              <a:t>доработки решают задачу кейса</a:t>
            </a:r>
            <a:endParaRPr lang="en-US" sz="1200" dirty="0"/>
          </a:p>
        </p:txBody>
      </p:sp>
      <p:sp>
        <p:nvSpPr>
          <p:cNvPr id="14" name="Польза для проректора — шкала"/>
          <p:cNvSpPr/>
          <p:nvPr/>
        </p:nvSpPr>
        <p:spPr>
          <a:xfrm>
            <a:off x="9235440" y="2852928"/>
            <a:ext cx="1828800" cy="292608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Польза для проректора — вес"/>
          <p:cNvSpPr/>
          <p:nvPr/>
        </p:nvSpPr>
        <p:spPr>
          <a:xfrm>
            <a:off x="9235440" y="2852928"/>
            <a:ext cx="1828800" cy="292608"/>
          </a:xfrm>
          <a:prstGeom prst="roundRect">
            <a:avLst>
              <a:gd name="adj" fmla="val 1875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155680" y="2788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25%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852160" y="3566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Гипотеза проверена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852160" y="3886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82"/>
                </a:solidFill>
              </a:rPr>
              <a:t>сценарии, доля прогонов, интерпретация</a:t>
            </a:r>
            <a:endParaRPr lang="en-US" sz="1200" dirty="0"/>
          </a:p>
        </p:txBody>
      </p:sp>
      <p:sp>
        <p:nvSpPr>
          <p:cNvPr id="19" name="Гипотеза проверена — шкала"/>
          <p:cNvSpPr/>
          <p:nvPr/>
        </p:nvSpPr>
        <p:spPr>
          <a:xfrm>
            <a:off x="9235440" y="3675888"/>
            <a:ext cx="1828800" cy="292608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Гипотеза проверена — вес"/>
          <p:cNvSpPr/>
          <p:nvPr/>
        </p:nvSpPr>
        <p:spPr>
          <a:xfrm>
            <a:off x="9235440" y="3675888"/>
            <a:ext cx="1463040" cy="292608"/>
          </a:xfrm>
          <a:prstGeom prst="roundRect">
            <a:avLst>
              <a:gd name="adj" fmla="val 1875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155680" y="36118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20%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852160" y="4389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Постановка задач ИИ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852160" y="4709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82"/>
                </a:solidFill>
              </a:rPr>
              <a:t>ясные промпты, шаги, версии</a:t>
            </a:r>
            <a:endParaRPr lang="en-US" sz="1200" dirty="0"/>
          </a:p>
        </p:txBody>
      </p:sp>
      <p:sp>
        <p:nvSpPr>
          <p:cNvPr id="24" name="Постановка задач ИИ — шкала"/>
          <p:cNvSpPr/>
          <p:nvPr/>
        </p:nvSpPr>
        <p:spPr>
          <a:xfrm>
            <a:off x="9235440" y="4498848"/>
            <a:ext cx="1828800" cy="292608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Постановка задач ИИ — вес"/>
          <p:cNvSpPr/>
          <p:nvPr/>
        </p:nvSpPr>
        <p:spPr>
          <a:xfrm>
            <a:off x="9235440" y="4498848"/>
            <a:ext cx="1097280" cy="292608"/>
          </a:xfrm>
          <a:prstGeom prst="roundRect">
            <a:avLst>
              <a:gd name="adj" fmla="val 1875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1155680" y="44348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15%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852160" y="5212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План внедрения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852160" y="5532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82"/>
                </a:solidFill>
              </a:rPr>
              <a:t>реалистичный и конкретный</a:t>
            </a:r>
            <a:endParaRPr lang="en-US" sz="1200" dirty="0"/>
          </a:p>
        </p:txBody>
      </p:sp>
      <p:sp>
        <p:nvSpPr>
          <p:cNvPr id="29" name="План внедрения — шкала"/>
          <p:cNvSpPr/>
          <p:nvPr/>
        </p:nvSpPr>
        <p:spPr>
          <a:xfrm>
            <a:off x="9235440" y="5321808"/>
            <a:ext cx="1828800" cy="292608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План внедрения — вес"/>
          <p:cNvSpPr/>
          <p:nvPr/>
        </p:nvSpPr>
        <p:spPr>
          <a:xfrm>
            <a:off x="9235440" y="5321808"/>
            <a:ext cx="1097280" cy="292608"/>
          </a:xfrm>
          <a:prstGeom prst="roundRect">
            <a:avLst>
              <a:gd name="adj" fmla="val 1875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1155680" y="52578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15%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Поддержка и риски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7548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Риск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Как снимаем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305C"/>
                          </a:solidFill>
                        </a:rPr>
                        <a:t>Cline сломал платформу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Кнопка Restore у шага Cline, откат к версии в git, задача меньшими шагами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305C"/>
                          </a:solidFill>
                        </a:rPr>
                        <a:t>Нет доступа к модели из сети площадки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Проверка за неделю, резервный провайдер и мобильная точка доступа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305C"/>
                          </a:solidFill>
                        </a:rPr>
                        <a:t>Закончился лимит ключа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Лимиты на ключ, резервные ключи у дежурного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305C"/>
                          </a:solidFill>
                        </a:rPr>
                        <a:t>Участник отстаёт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Работа в паре, готовая копия платформы с выполненным базовым треком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305C"/>
                          </a:solidFill>
                        </a:rPr>
                        <a:t>Слабая модель ломает файлы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Только сильные модели для кода; стартовые промпты прогнаны заранее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305C"/>
                          </a:solidFill>
                        </a:rPr>
                        <a:t>Разные ОС у участников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</a:rPr>
                        <a:t>Инструкции для Windows и macOS, дежурные знают обе системы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Поддержка"/>
          <p:cNvSpPr/>
          <p:nvPr/>
        </p:nvSpPr>
        <p:spPr>
          <a:xfrm>
            <a:off x="8549640" y="1371600"/>
            <a:ext cx="3063240" cy="4663440"/>
          </a:xfrm>
          <a:prstGeom prst="roundRect">
            <a:avLst>
              <a:gd name="adj" fmla="val 358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14305C">
                <a:alpha val="12000"/>
              </a:srgbClr>
            </a:outerShdw>
          </a:effectLst>
        </p:spPr>
      </p:sp>
      <p:sp>
        <p:nvSpPr>
          <p:cNvPr id="5" name="Поддержка — круг"/>
          <p:cNvSpPr/>
          <p:nvPr/>
        </p:nvSpPr>
        <p:spPr>
          <a:xfrm>
            <a:off x="9601200" y="164592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Поддержка — значок" descr="Поддержк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0656" y="1865376"/>
            <a:ext cx="475488" cy="47548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778240" y="27889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: 10–12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8778240" y="3200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дежурный техспециалист на участников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8778240" y="38404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8778240" y="42519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печатные памятки: стартовые промпты и чек-лист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8778240" y="48920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канал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8778240" y="53035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чат сессии для вопросов и скриншотов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После сессии у вуза есть свой AIOS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Работающая версия платформы, проверенная гипотеза и люди, которые умеют дорабатывать её промптами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120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Выбрать лучшую версию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486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и развернуть на сервере вуза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389120" y="5120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Подключить реальные данные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389120" y="5486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реестр РИД, портфель, KPI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046720" y="5120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Сообщество участников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5486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обмен агентами, полигонами, промптами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OS Сессия">
  <a:themeElements>
    <a:clrScheme name="AIOS Сессия">
      <a:dk1>
        <a:srgbClr val="1B2433"/>
      </a:dk1>
      <a:lt1>
        <a:srgbClr val="FFFFFF"/>
      </a:lt1>
      <a:dk2>
        <a:srgbClr val="14305C"/>
      </a:dk2>
      <a:lt2>
        <a:srgbClr val="EEF3F9"/>
      </a:lt2>
      <a:accent1>
        <a:srgbClr val="1F5AA6"/>
      </a:accent1>
      <a:accent2>
        <a:srgbClr val="2E9D5B"/>
      </a:accent2>
      <a:accent3>
        <a:srgbClr val="E39B2D"/>
      </a:accent3>
      <a:accent4>
        <a:srgbClr val="7A3FB0"/>
      </a:accent4>
      <a:accent5>
        <a:srgbClr val="C8372D"/>
      </a:accent5>
      <a:accent6>
        <a:srgbClr val="0F7C8C"/>
      </a:accent6>
      <a:hlink>
        <a:srgbClr val="1F5AA6"/>
      </a:hlink>
      <a:folHlink>
        <a:srgbClr val="7A3FB0"/>
      </a:folHlink>
    </a:clrScheme>
    <a:fontScheme name="AIOS Сессия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Свой AIOS за два дня — практическая работа с Cline</dc:title>
  <dc:subject>PptxGenJS Presentation</dc:subject>
  <dc:creator>Команда AIOS</dc:creator>
  <cp:lastModifiedBy>Команда AIOS</cp:lastModifiedBy>
  <cp:revision>1</cp:revision>
  <dcterms:created xsi:type="dcterms:W3CDTF">2026-10-30T10:51:17Z</dcterms:created>
  <dcterms:modified xsi:type="dcterms:W3CDTF">2026-10-30T10:51:17Z</dcterms:modified>
</cp:coreProperties>
</file>